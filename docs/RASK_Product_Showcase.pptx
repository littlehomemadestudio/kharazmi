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14375" y="-1428750"/>
            <a:ext cx="4286250" cy="4286250"/>
          </a:xfrm>
          <a:prstGeom prst="ellipse">
            <a:avLst/>
          </a:prstGeom>
          <a:solidFill>
            <a:srgbClr val="D4AF37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43688" y="3357563"/>
            <a:ext cx="2857500" cy="2857500"/>
          </a:xfrm>
          <a:prstGeom prst="ellipse">
            <a:avLst/>
          </a:prstGeom>
          <a:solidFill>
            <a:srgbClr val="F5D06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28625"/>
            <a:ext cx="8001000" cy="7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95476" y="1223032"/>
            <a:ext cx="4724698" cy="1026128"/>
          </a:xfrm>
          <a:prstGeom prst="rect">
            <a:avLst/>
          </a:prstGeom>
          <a:noFill/>
          <a:ln/>
          <a:effectLst>
            <a:outerShdw sx="100000" sy="100000" kx="0" ky="0" algn="bl" rotWithShape="0" blurRad="571500" dist="50800" dir="16200000">
              <a:srgbClr val="D4AF37">
                <a:alpha val="3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6750"/>
              </a:lnSpc>
              <a:buNone/>
            </a:pPr>
            <a:r>
              <a:rPr lang="en-US" sz="6750" b="1" spc="450" kern="0" dirty="0">
                <a:solidFill>
                  <a:srgbClr val="F5D06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RASK!</a:t>
            </a:r>
            <a:endParaRPr lang="en-US" sz="6750" dirty="0"/>
          </a:p>
        </p:txBody>
      </p:sp>
      <p:sp>
        <p:nvSpPr>
          <p:cNvPr id="6" name="Text 3"/>
          <p:cNvSpPr/>
          <p:nvPr/>
        </p:nvSpPr>
        <p:spPr>
          <a:xfrm>
            <a:off x="4146947" y="2216014"/>
            <a:ext cx="1343168" cy="55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راسک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2306610" y="2987539"/>
            <a:ext cx="4530781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spc="56" kern="0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AI-Powered Persian Project Operating System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3501889"/>
            <a:ext cx="571500" cy="142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96443" y="3687626"/>
            <a:ext cx="3551002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i="1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"Named after Al-Khwarizmi — whose name gave the world 'algorithm'"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07731"/>
            <a:ext cx="8001000" cy="71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59717" y="4804172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3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84010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One App. </a:t>
            </a:r>
            <a:pPr algn="l" indent="0" marL="0">
              <a:lnSpc>
                <a:spcPts val="3713"/>
              </a:lnSpc>
              <a:buNone/>
            </a:pPr>
            <a:r>
              <a:rPr lang="en-US" sz="2475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Every Plan.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571500" y="1014413"/>
            <a:ext cx="428625" cy="21431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5072" y="1382316"/>
            <a:ext cx="2507456" cy="3050381"/>
          </a:xfrm>
          <a:prstGeom prst="roundRect">
            <a:avLst>
              <a:gd name="adj" fmla="val 6078"/>
            </a:avLst>
          </a:prstGeom>
          <a:solidFill>
            <a:srgbClr val="D4AF37">
              <a:alpha val="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8669" y="1614488"/>
            <a:ext cx="210026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8669" y="2243138"/>
            <a:ext cx="210026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Persian Calendar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8669" y="2614613"/>
            <a:ext cx="2100263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0DC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Shamsi-first, Google Calendar parity, Iranian holidays built-in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778669" y="4003643"/>
            <a:ext cx="676535" cy="208026"/>
          </a:xfrm>
          <a:prstGeom prst="roundRect">
            <a:avLst>
              <a:gd name="adj" fmla="val 91575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8669" y="4014788"/>
            <a:ext cx="6765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Shamsi/Jalali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12354" y="4003643"/>
            <a:ext cx="470148" cy="208026"/>
          </a:xfrm>
          <a:prstGeom prst="roundRect">
            <a:avLst>
              <a:gd name="adj" fmla="val 91575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12354" y="4014788"/>
            <a:ext cx="47014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Views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39652" y="4003643"/>
            <a:ext cx="551185" cy="208026"/>
          </a:xfrm>
          <a:prstGeom prst="roundRect">
            <a:avLst>
              <a:gd name="adj" fmla="val 91575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07336" y="4014788"/>
            <a:ext cx="6158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NLP Input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18272" y="1382316"/>
            <a:ext cx="2507456" cy="3050381"/>
          </a:xfrm>
          <a:prstGeom prst="roundRect">
            <a:avLst>
              <a:gd name="adj" fmla="val 6078"/>
            </a:avLst>
          </a:prstGeom>
          <a:solidFill>
            <a:srgbClr val="D4AF37">
              <a:alpha val="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21869" y="1614488"/>
            <a:ext cx="210026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🤖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521869" y="2243138"/>
            <a:ext cx="210026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AI Planning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21869" y="2614613"/>
            <a:ext cx="2100263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0DC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a wizard. A conversation. The AI asks, you answer, it plans.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3521869" y="4003643"/>
            <a:ext cx="743285" cy="208026"/>
          </a:xfrm>
          <a:prstGeom prst="roundRect">
            <a:avLst>
              <a:gd name="adj" fmla="val 91575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21869" y="4014788"/>
            <a:ext cx="74328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22304" y="4003643"/>
            <a:ext cx="705222" cy="208026"/>
          </a:xfrm>
          <a:prstGeom prst="roundRect">
            <a:avLst>
              <a:gd name="adj" fmla="val 91575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285482" y="4014788"/>
            <a:ext cx="77886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 Graphs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84676" y="4003643"/>
            <a:ext cx="504974" cy="208026"/>
          </a:xfrm>
          <a:prstGeom prst="roundRect">
            <a:avLst>
              <a:gd name="adj" fmla="val 91575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79607" y="4014788"/>
            <a:ext cx="51511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GLM-4.5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1472" y="1382316"/>
            <a:ext cx="2507456" cy="3050381"/>
          </a:xfrm>
          <a:prstGeom prst="roundRect">
            <a:avLst>
              <a:gd name="adj" fmla="val 6078"/>
            </a:avLst>
          </a:prstGeom>
          <a:solidFill>
            <a:srgbClr val="D4AF37">
              <a:alpha val="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65069" y="1614488"/>
            <a:ext cx="210026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6265069" y="2243138"/>
            <a:ext cx="2100263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Enterprise PM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65069" y="2614613"/>
            <a:ext cx="2100263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844" dirty="0">
                <a:solidFill>
                  <a:srgbClr val="F5F0DC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CPM, PERT, Monte Carlo, Resource Leveling — in a desktop app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6265069" y="4003643"/>
            <a:ext cx="612911" cy="208026"/>
          </a:xfrm>
          <a:prstGeom prst="roundRect">
            <a:avLst>
              <a:gd name="adj" fmla="val 91575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65069" y="4014788"/>
            <a:ext cx="61291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CPM/PERT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35130" y="4003643"/>
            <a:ext cx="638473" cy="208026"/>
          </a:xfrm>
          <a:prstGeom prst="roundRect">
            <a:avLst>
              <a:gd name="adj" fmla="val 91575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96105" y="4014788"/>
            <a:ext cx="71652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Monte Carlo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630753" y="4003643"/>
            <a:ext cx="490798" cy="208026"/>
          </a:xfrm>
          <a:prstGeom prst="roundRect">
            <a:avLst>
              <a:gd name="adj" fmla="val 91575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603010" y="4014788"/>
            <a:ext cx="54628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Leveling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51460" y="4664869"/>
            <a:ext cx="86360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i="1" dirty="0">
                <a:solidFill>
                  <a:srgbClr val="D4AF37">
                    <a:alpha val="70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"A serious task operating system" — RASK tagline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8459717" y="4804172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3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857250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Architecture: </a:t>
            </a:r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Clean &amp; Layered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914400"/>
            <a:ext cx="428625" cy="21431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57313" y="1253728"/>
            <a:ext cx="6429375" cy="514350"/>
          </a:xfrm>
          <a:prstGeom prst="roundRect">
            <a:avLst>
              <a:gd name="adj" fmla="val 22222"/>
            </a:avLst>
          </a:prstGeom>
          <a:solidFill>
            <a:srgbClr val="D4AF37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357313" y="1257300"/>
            <a:ext cx="64293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83116" y="1253728"/>
            <a:ext cx="0" cy="51435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7313" y="1764506"/>
            <a:ext cx="64293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253728"/>
            <a:ext cx="0" cy="51435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5913" y="141089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10" name="Text 8"/>
          <p:cNvSpPr/>
          <p:nvPr/>
        </p:nvSpPr>
        <p:spPr>
          <a:xfrm>
            <a:off x="1877620" y="1403747"/>
            <a:ext cx="7614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UI Layer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747915" y="1408890"/>
            <a:ext cx="575183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47915" y="1419820"/>
            <a:ext cx="57518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Views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08823" y="1408890"/>
            <a:ext cx="664704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08090" y="1419820"/>
            <a:ext cx="66617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 Widgets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59252" y="1408890"/>
            <a:ext cx="638919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45626" y="1419820"/>
            <a:ext cx="66617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Dialogs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83896" y="1408890"/>
            <a:ext cx="695623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67451" y="1419820"/>
            <a:ext cx="72851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Calendar UI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93419" y="181094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547" dirty="0"/>
          </a:p>
        </p:txBody>
      </p:sp>
      <p:sp>
        <p:nvSpPr>
          <p:cNvPr id="20" name="Text 18"/>
          <p:cNvSpPr/>
          <p:nvPr/>
        </p:nvSpPr>
        <p:spPr>
          <a:xfrm>
            <a:off x="1357313" y="2010966"/>
            <a:ext cx="6429375" cy="514350"/>
          </a:xfrm>
          <a:prstGeom prst="roundRect">
            <a:avLst>
              <a:gd name="adj" fmla="val 22222"/>
            </a:avLst>
          </a:prstGeom>
          <a:solidFill>
            <a:srgbClr val="D4AF37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357313" y="2014538"/>
            <a:ext cx="64293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83116" y="2010966"/>
            <a:ext cx="0" cy="51435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7313" y="2521744"/>
            <a:ext cx="64293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2010966"/>
            <a:ext cx="0" cy="514350"/>
          </a:xfrm>
          <a:prstGeom prst="line">
            <a:avLst/>
          </a:prstGeom>
          <a:noFill/>
          <a:ln w="28575">
            <a:solidFill>
              <a:srgbClr val="C9A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85913" y="216812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C9A43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969" dirty="0"/>
          </a:p>
        </p:txBody>
      </p:sp>
      <p:sp>
        <p:nvSpPr>
          <p:cNvPr id="26" name="Text 24"/>
          <p:cNvSpPr/>
          <p:nvPr/>
        </p:nvSpPr>
        <p:spPr>
          <a:xfrm>
            <a:off x="1803917" y="2160984"/>
            <a:ext cx="11829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9A43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Service Layer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4674133" y="2166128"/>
            <a:ext cx="700646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51808" y="2177058"/>
            <a:ext cx="74529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TaskService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60504" y="2166128"/>
            <a:ext cx="969318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60504" y="2177058"/>
            <a:ext cx="96931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SchedulingService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15546" y="2166128"/>
            <a:ext cx="509774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15546" y="2177058"/>
            <a:ext cx="50977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Advisor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11045" y="2166128"/>
            <a:ext cx="468474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111045" y="2177058"/>
            <a:ext cx="46847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93419" y="256817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547" dirty="0"/>
          </a:p>
        </p:txBody>
      </p:sp>
      <p:sp>
        <p:nvSpPr>
          <p:cNvPr id="36" name="Text 34"/>
          <p:cNvSpPr/>
          <p:nvPr/>
        </p:nvSpPr>
        <p:spPr>
          <a:xfrm>
            <a:off x="1357313" y="2768203"/>
            <a:ext cx="6429375" cy="514350"/>
          </a:xfrm>
          <a:prstGeom prst="roundRect">
            <a:avLst>
              <a:gd name="adj" fmla="val 22222"/>
            </a:avLst>
          </a:prstGeom>
          <a:solidFill>
            <a:srgbClr val="D4AF37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1357313" y="2771775"/>
            <a:ext cx="64293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83116" y="2768203"/>
            <a:ext cx="0" cy="51435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313" y="3278981"/>
            <a:ext cx="64293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71600" y="2768203"/>
            <a:ext cx="0" cy="514350"/>
          </a:xfrm>
          <a:prstGeom prst="line">
            <a:avLst/>
          </a:prstGeom>
          <a:noFill/>
          <a:ln w="28575">
            <a:solidFill>
              <a:srgbClr val="B89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85913" y="292536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B8962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969" dirty="0"/>
          </a:p>
        </p:txBody>
      </p:sp>
      <p:sp>
        <p:nvSpPr>
          <p:cNvPr id="42" name="Text 40"/>
          <p:cNvSpPr/>
          <p:nvPr/>
        </p:nvSpPr>
        <p:spPr>
          <a:xfrm>
            <a:off x="1900238" y="2918222"/>
            <a:ext cx="12138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B896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Algorithm Layer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3967014" y="2923365"/>
            <a:ext cx="406412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967014" y="2934295"/>
            <a:ext cx="40641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59151" y="2923365"/>
            <a:ext cx="446038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459151" y="2934295"/>
            <a:ext cx="4460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90914" y="2923365"/>
            <a:ext cx="705892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985598" y="2934295"/>
            <a:ext cx="71652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Monte Carlo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782531" y="2923365"/>
            <a:ext cx="860822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782531" y="2934295"/>
            <a:ext cx="86082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Topological Sort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29078" y="2923365"/>
            <a:ext cx="850441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729078" y="2934295"/>
            <a:ext cx="85044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Cycle Detection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493419" y="332541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547" dirty="0"/>
          </a:p>
        </p:txBody>
      </p:sp>
      <p:sp>
        <p:nvSpPr>
          <p:cNvPr id="54" name="Text 52"/>
          <p:cNvSpPr/>
          <p:nvPr/>
        </p:nvSpPr>
        <p:spPr>
          <a:xfrm>
            <a:off x="1357313" y="3525441"/>
            <a:ext cx="6429375" cy="514350"/>
          </a:xfrm>
          <a:prstGeom prst="roundRect">
            <a:avLst>
              <a:gd name="adj" fmla="val 22222"/>
            </a:avLst>
          </a:prstGeom>
          <a:solidFill>
            <a:srgbClr val="D4AF37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1357313" y="3529013"/>
            <a:ext cx="64293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83116" y="3525441"/>
            <a:ext cx="0" cy="51435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57313" y="4036219"/>
            <a:ext cx="64293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71600" y="3525441"/>
            <a:ext cx="0" cy="514350"/>
          </a:xfrm>
          <a:prstGeom prst="line">
            <a:avLst/>
          </a:prstGeom>
          <a:noFill/>
          <a:ln w="28575">
            <a:solidFill>
              <a:srgbClr val="A686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85913" y="368260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A686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969" dirty="0"/>
          </a:p>
        </p:txBody>
      </p:sp>
      <p:sp>
        <p:nvSpPr>
          <p:cNvPr id="60" name="Text 58"/>
          <p:cNvSpPr/>
          <p:nvPr/>
        </p:nvSpPr>
        <p:spPr>
          <a:xfrm>
            <a:off x="1871233" y="3675459"/>
            <a:ext cx="109528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A6862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Domain Layer</a:t>
            </a:r>
            <a:endParaRPr lang="en-US" sz="1125" dirty="0"/>
          </a:p>
        </p:txBody>
      </p:sp>
      <p:sp>
        <p:nvSpPr>
          <p:cNvPr id="61" name="Text 59"/>
          <p:cNvSpPr/>
          <p:nvPr/>
        </p:nvSpPr>
        <p:spPr>
          <a:xfrm>
            <a:off x="4379677" y="3680603"/>
            <a:ext cx="391009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379677" y="3691533"/>
            <a:ext cx="3910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856411" y="3680603"/>
            <a:ext cx="489124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856411" y="3691533"/>
            <a:ext cx="48912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431259" y="3680603"/>
            <a:ext cx="721519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431259" y="3691533"/>
            <a:ext cx="7215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Dependency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238503" y="3680603"/>
            <a:ext cx="771302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203550" y="3691533"/>
            <a:ext cx="84120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Value Objects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095530" y="3680603"/>
            <a:ext cx="483989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7095530" y="3691533"/>
            <a:ext cx="48398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493419" y="408265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547" dirty="0"/>
          </a:p>
        </p:txBody>
      </p:sp>
      <p:sp>
        <p:nvSpPr>
          <p:cNvPr id="72" name="Text 70"/>
          <p:cNvSpPr/>
          <p:nvPr/>
        </p:nvSpPr>
        <p:spPr>
          <a:xfrm>
            <a:off x="1357313" y="4282678"/>
            <a:ext cx="6429375" cy="514350"/>
          </a:xfrm>
          <a:prstGeom prst="roundRect">
            <a:avLst>
              <a:gd name="adj" fmla="val 22222"/>
            </a:avLst>
          </a:prstGeom>
          <a:solidFill>
            <a:srgbClr val="D4AF37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1357313" y="4286250"/>
            <a:ext cx="64293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783116" y="4282678"/>
            <a:ext cx="0" cy="51435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57313" y="4793456"/>
            <a:ext cx="6429375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71600" y="4282678"/>
            <a:ext cx="0" cy="514350"/>
          </a:xfrm>
          <a:prstGeom prst="line">
            <a:avLst/>
          </a:prstGeom>
          <a:noFill/>
          <a:ln w="28575">
            <a:solidFill>
              <a:srgbClr val="95761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85913" y="443984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95761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78" name="Text 76"/>
          <p:cNvSpPr/>
          <p:nvPr/>
        </p:nvSpPr>
        <p:spPr>
          <a:xfrm>
            <a:off x="1900238" y="4432697"/>
            <a:ext cx="126934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95761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Persistence Layer</a:t>
            </a:r>
            <a:endParaRPr lang="en-US" sz="1125" dirty="0"/>
          </a:p>
        </p:txBody>
      </p:sp>
      <p:sp>
        <p:nvSpPr>
          <p:cNvPr id="79" name="Text 77"/>
          <p:cNvSpPr/>
          <p:nvPr/>
        </p:nvSpPr>
        <p:spPr>
          <a:xfrm>
            <a:off x="5465862" y="4437840"/>
            <a:ext cx="483989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5465862" y="4448770"/>
            <a:ext cx="48398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SQLite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035576" y="4437840"/>
            <a:ext cx="447712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6035576" y="4448770"/>
            <a:ext cx="44771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JSON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569013" y="4437840"/>
            <a:ext cx="1010506" cy="204026"/>
          </a:xfrm>
          <a:prstGeom prst="roundRect">
            <a:avLst>
              <a:gd name="adj" fmla="val 74696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569013" y="4448770"/>
            <a:ext cx="101050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File-backed Journal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459717" y="4804172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3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8572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Persian Calendar — 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Reimagined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71500" y="892969"/>
            <a:ext cx="428625" cy="21431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5072" y="1175147"/>
            <a:ext cx="2564606" cy="1764506"/>
          </a:xfrm>
          <a:prstGeom prst="roundRect">
            <a:avLst>
              <a:gd name="adj" fmla="val 7557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0094" y="1350169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2955" y="138303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750094" y="1764506"/>
            <a:ext cx="22145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Shamsi/Jalali Dates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750094" y="2014538"/>
            <a:ext cx="2214563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views use Persian calendar natively — no conversion hacks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89697" y="1175147"/>
            <a:ext cx="2564606" cy="1764506"/>
          </a:xfrm>
          <a:prstGeom prst="roundRect">
            <a:avLst>
              <a:gd name="adj" fmla="val 7557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64719" y="1350169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97580" y="138303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3464719" y="1764506"/>
            <a:ext cx="22145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Calendar Views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3464719" y="2014538"/>
            <a:ext cx="2214563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Day, Week, Month, and Year views — Shamsi-aware throughout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04322" y="1175147"/>
            <a:ext cx="2564606" cy="1764506"/>
          </a:xfrm>
          <a:prstGeom prst="roundRect">
            <a:avLst>
              <a:gd name="adj" fmla="val 7557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79344" y="1350169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12205" y="138303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6179344" y="1764506"/>
            <a:ext cx="22145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Natural Language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6179344" y="2014538"/>
            <a:ext cx="2214563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"meeting with Ali tomorrow at 3pm" → creates event instantly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5072" y="3089672"/>
            <a:ext cx="2564606" cy="1764506"/>
          </a:xfrm>
          <a:prstGeom prst="roundRect">
            <a:avLst>
              <a:gd name="adj" fmla="val 7557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0094" y="3264694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2955" y="329755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750094" y="3679031"/>
            <a:ext cx="22145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Iranian Holidays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750094" y="3929063"/>
            <a:ext cx="2214563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Built-in, auto-recurring — Nowruz, Sizdah Bedar, and all national holidays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89697" y="3089672"/>
            <a:ext cx="2564606" cy="1764506"/>
          </a:xfrm>
          <a:prstGeom prst="roundRect">
            <a:avLst>
              <a:gd name="adj" fmla="val 7557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64719" y="3264694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97580" y="329755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3464719" y="3679031"/>
            <a:ext cx="22145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Recurring Events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3464719" y="3929063"/>
            <a:ext cx="2214563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Simplified RFC 5545 RRULE — Shamsi-aware recurrence patterns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04322" y="3089672"/>
            <a:ext cx="2564606" cy="1764506"/>
          </a:xfrm>
          <a:prstGeom prst="roundRect">
            <a:avLst>
              <a:gd name="adj" fmla="val 7557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79344" y="3264694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12205" y="329755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688" dirty="0"/>
          </a:p>
        </p:txBody>
      </p:sp>
      <p:sp>
        <p:nvSpPr>
          <p:cNvPr id="32" name="Text 30"/>
          <p:cNvSpPr/>
          <p:nvPr/>
        </p:nvSpPr>
        <p:spPr>
          <a:xfrm>
            <a:off x="6179344" y="3679031"/>
            <a:ext cx="22145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Drag &amp; Drop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6179344" y="3929063"/>
            <a:ext cx="2214563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Move, resize events with 15-minute snap — intuitive and precise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59717" y="4804172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3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857250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🤖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AI Planning — 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Interactive &amp; Intelligent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71500" y="892969"/>
            <a:ext cx="428625" cy="21431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5072" y="1146572"/>
            <a:ext cx="3821906" cy="639366"/>
          </a:xfrm>
          <a:prstGeom prst="roundRect">
            <a:avLst>
              <a:gd name="adj" fmla="val 17877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519" y="1278731"/>
            <a:ext cx="257175" cy="2571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1519" y="1278731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2994" y="1278731"/>
            <a:ext cx="134744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Goal Input</a:t>
            </a:r>
            <a:endParaRPr lang="en-US" sz="956" dirty="0"/>
          </a:p>
        </p:txBody>
      </p:sp>
      <p:sp>
        <p:nvSpPr>
          <p:cNvPr id="8" name="Text 5"/>
          <p:cNvSpPr/>
          <p:nvPr/>
        </p:nvSpPr>
        <p:spPr>
          <a:xfrm>
            <a:off x="1092994" y="1503759"/>
            <a:ext cx="12646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"Learn Python in 30 days"</a:t>
            </a:r>
            <a:endParaRPr lang="en-US" sz="788" dirty="0"/>
          </a:p>
        </p:txBody>
      </p:sp>
      <p:sp>
        <p:nvSpPr>
          <p:cNvPr id="9" name="Text 6"/>
          <p:cNvSpPr/>
          <p:nvPr/>
        </p:nvSpPr>
        <p:spPr>
          <a:xfrm>
            <a:off x="4747022" y="1146572"/>
            <a:ext cx="3821906" cy="639366"/>
          </a:xfrm>
          <a:prstGeom prst="roundRect">
            <a:avLst>
              <a:gd name="adj" fmla="val 17877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469" y="1278731"/>
            <a:ext cx="257175" cy="2571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3469" y="1278731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264944" y="1278731"/>
            <a:ext cx="237580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Clarifying Questions</a:t>
            </a:r>
            <a:endParaRPr lang="en-US" sz="956" dirty="0"/>
          </a:p>
        </p:txBody>
      </p:sp>
      <p:sp>
        <p:nvSpPr>
          <p:cNvPr id="13" name="Text 9"/>
          <p:cNvSpPr/>
          <p:nvPr/>
        </p:nvSpPr>
        <p:spPr>
          <a:xfrm>
            <a:off x="5264944" y="1503759"/>
            <a:ext cx="226267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Multiple choice — hours/day? intensity? start date?</a:t>
            </a:r>
            <a:endParaRPr lang="en-US" sz="788" dirty="0"/>
          </a:p>
        </p:txBody>
      </p:sp>
      <p:sp>
        <p:nvSpPr>
          <p:cNvPr id="14" name="Text 10"/>
          <p:cNvSpPr/>
          <p:nvPr/>
        </p:nvSpPr>
        <p:spPr>
          <a:xfrm>
            <a:off x="575072" y="1964531"/>
            <a:ext cx="3821906" cy="639366"/>
          </a:xfrm>
          <a:prstGeom prst="roundRect">
            <a:avLst>
              <a:gd name="adj" fmla="val 17877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19" y="2096691"/>
            <a:ext cx="257175" cy="2571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1519" y="2096691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092994" y="2096691"/>
            <a:ext cx="2451517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Route Generation</a:t>
            </a:r>
            <a:endParaRPr lang="en-US" sz="956" dirty="0"/>
          </a:p>
        </p:txBody>
      </p:sp>
      <p:sp>
        <p:nvSpPr>
          <p:cNvPr id="18" name="Text 13"/>
          <p:cNvSpPr/>
          <p:nvPr/>
        </p:nvSpPr>
        <p:spPr>
          <a:xfrm>
            <a:off x="1092994" y="2321719"/>
            <a:ext cx="233477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Complex graph with branches, fallbacks, alternatives</a:t>
            </a:r>
            <a:endParaRPr lang="en-US" sz="788" dirty="0"/>
          </a:p>
        </p:txBody>
      </p:sp>
      <p:sp>
        <p:nvSpPr>
          <p:cNvPr id="19" name="Text 14"/>
          <p:cNvSpPr/>
          <p:nvPr/>
        </p:nvSpPr>
        <p:spPr>
          <a:xfrm>
            <a:off x="4747022" y="1964531"/>
            <a:ext cx="3821906" cy="639366"/>
          </a:xfrm>
          <a:prstGeom prst="roundRect">
            <a:avLst>
              <a:gd name="adj" fmla="val 17877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2096691"/>
            <a:ext cx="257175" cy="2571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93469" y="2096691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264944" y="2096691"/>
            <a:ext cx="2568016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Interactive Editing</a:t>
            </a:r>
            <a:endParaRPr lang="en-US" sz="956" dirty="0"/>
          </a:p>
        </p:txBody>
      </p:sp>
      <p:sp>
        <p:nvSpPr>
          <p:cNvPr id="23" name="Text 17"/>
          <p:cNvSpPr/>
          <p:nvPr/>
        </p:nvSpPr>
        <p:spPr>
          <a:xfrm>
            <a:off x="5264944" y="2321719"/>
            <a:ext cx="244573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Click steps, breakdown, optimize, critique — full control</a:t>
            </a:r>
            <a:endParaRPr lang="en-US" sz="788" dirty="0"/>
          </a:p>
        </p:txBody>
      </p:sp>
      <p:sp>
        <p:nvSpPr>
          <p:cNvPr id="24" name="Text 18"/>
          <p:cNvSpPr/>
          <p:nvPr/>
        </p:nvSpPr>
        <p:spPr>
          <a:xfrm>
            <a:off x="575072" y="2782491"/>
            <a:ext cx="3821906" cy="639366"/>
          </a:xfrm>
          <a:prstGeom prst="roundRect">
            <a:avLst>
              <a:gd name="adj" fmla="val 17877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19" y="2914650"/>
            <a:ext cx="257175" cy="2571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1519" y="2914650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092994" y="2914650"/>
            <a:ext cx="302346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Calendar Integration</a:t>
            </a:r>
            <a:endParaRPr lang="en-US" sz="956" dirty="0"/>
          </a:p>
        </p:txBody>
      </p:sp>
      <p:sp>
        <p:nvSpPr>
          <p:cNvPr id="28" name="Text 21"/>
          <p:cNvSpPr/>
          <p:nvPr/>
        </p:nvSpPr>
        <p:spPr>
          <a:xfrm>
            <a:off x="1092994" y="3139678"/>
            <a:ext cx="287948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creates events with proper time slots on your Shamsi calendar</a:t>
            </a:r>
            <a:endParaRPr lang="en-US" sz="788" dirty="0"/>
          </a:p>
        </p:txBody>
      </p:sp>
      <p:sp>
        <p:nvSpPr>
          <p:cNvPr id="29" name="Text 22"/>
          <p:cNvSpPr/>
          <p:nvPr/>
        </p:nvSpPr>
        <p:spPr>
          <a:xfrm>
            <a:off x="4747022" y="2782491"/>
            <a:ext cx="3821906" cy="639366"/>
          </a:xfrm>
          <a:prstGeom prst="roundRect">
            <a:avLst>
              <a:gd name="adj" fmla="val 17877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2914650"/>
            <a:ext cx="257175" cy="25717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893469" y="2914650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1A1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5264944" y="2914650"/>
            <a:ext cx="3157537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Journal</a:t>
            </a:r>
            <a:endParaRPr lang="en-US" sz="956" dirty="0"/>
          </a:p>
        </p:txBody>
      </p:sp>
      <p:sp>
        <p:nvSpPr>
          <p:cNvPr id="33" name="Text 25"/>
          <p:cNvSpPr/>
          <p:nvPr/>
        </p:nvSpPr>
        <p:spPr>
          <a:xfrm>
            <a:off x="5264944" y="3139678"/>
            <a:ext cx="254049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Everything saved, searchable — revisit any plan, anytime</a:t>
            </a:r>
            <a:endParaRPr lang="en-US" sz="788" dirty="0"/>
          </a:p>
        </p:txBody>
      </p:sp>
      <p:sp>
        <p:nvSpPr>
          <p:cNvPr id="34" name="Shape 26"/>
          <p:cNvSpPr/>
          <p:nvPr/>
        </p:nvSpPr>
        <p:spPr>
          <a:xfrm>
            <a:off x="571500" y="4393406"/>
            <a:ext cx="8001000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964210" y="4572000"/>
            <a:ext cx="3215580" cy="339328"/>
          </a:xfrm>
          <a:prstGeom prst="roundRect">
            <a:avLst>
              <a:gd name="adj" fmla="val 112281"/>
            </a:avLst>
          </a:prstGeom>
          <a:solidFill>
            <a:srgbClr val="D4AF37">
              <a:alpha val="8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3196382" y="466308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37" name="Text 29"/>
          <p:cNvSpPr/>
          <p:nvPr/>
        </p:nvSpPr>
        <p:spPr>
          <a:xfrm>
            <a:off x="3268070" y="4661297"/>
            <a:ext cx="171198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Powered by GLM-4.5-Flash</a:t>
            </a:r>
            <a:endParaRPr lang="en-US" sz="844" dirty="0"/>
          </a:p>
        </p:txBody>
      </p:sp>
      <p:sp>
        <p:nvSpPr>
          <p:cNvPr id="38" name="Text 30"/>
          <p:cNvSpPr/>
          <p:nvPr/>
        </p:nvSpPr>
        <p:spPr>
          <a:xfrm>
            <a:off x="4789282" y="4672013"/>
            <a:ext cx="11583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streaming responses</a:t>
            </a:r>
            <a:endParaRPr lang="en-US" sz="731" dirty="0"/>
          </a:p>
        </p:txBody>
      </p:sp>
      <p:sp>
        <p:nvSpPr>
          <p:cNvPr id="39" name="Text 31"/>
          <p:cNvSpPr/>
          <p:nvPr/>
        </p:nvSpPr>
        <p:spPr>
          <a:xfrm>
            <a:off x="8459717" y="4804172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3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8401050" cy="439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6"/>
              </a:lnSpc>
              <a:buNone/>
            </a:pPr>
            <a:r>
              <a:rPr lang="en-US" sz="2138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🧠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Route </a:t>
            </a:r>
            <a:pPr algn="l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Intelligence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571500" y="892969"/>
            <a:ext cx="428625" cy="21431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5072" y="1175147"/>
            <a:ext cx="2526432" cy="3643313"/>
          </a:xfrm>
          <a:prstGeom prst="roundRect">
            <a:avLst>
              <a:gd name="adj" fmla="val 6032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0094" y="138588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969" dirty="0"/>
          </a:p>
        </p:txBody>
      </p:sp>
      <p:sp>
        <p:nvSpPr>
          <p:cNvPr id="6" name="Text 4"/>
          <p:cNvSpPr/>
          <p:nvPr/>
        </p:nvSpPr>
        <p:spPr>
          <a:xfrm>
            <a:off x="1035844" y="1378744"/>
            <a:ext cx="189063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Health Dashboard</a:t>
            </a:r>
            <a:endParaRPr lang="en-US" sz="1125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094" y="1798439"/>
            <a:ext cx="371475" cy="3714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0094" y="1798439"/>
            <a:ext cx="42862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A1A1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A+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81077" y="1735931"/>
            <a:ext cx="768916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Score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1099609" y="1889522"/>
            <a:ext cx="103761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87</a:t>
            </a:r>
            <a:pPr algn="l" indent="0" marL="0">
              <a:lnSpc>
                <a:spcPts val="2700"/>
              </a:lnSpc>
              <a:buNone/>
            </a:pPr>
            <a:r>
              <a:rPr lang="en-US" sz="900" b="1" dirty="0">
                <a:solidFill>
                  <a:srgbClr val="F5F0DC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/100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0094" y="2375297"/>
            <a:ext cx="19194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Success Probability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635479" y="2375297"/>
            <a:ext cx="3393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40pts</a:t>
            </a:r>
            <a:endParaRPr lang="en-US" sz="731" dirty="0"/>
          </a:p>
        </p:txBody>
      </p:sp>
      <p:sp>
        <p:nvSpPr>
          <p:cNvPr id="13" name="Text 10"/>
          <p:cNvSpPr/>
          <p:nvPr/>
        </p:nvSpPr>
        <p:spPr>
          <a:xfrm>
            <a:off x="750094" y="2557463"/>
            <a:ext cx="2176388" cy="57150"/>
          </a:xfrm>
          <a:prstGeom prst="roundRect">
            <a:avLst>
              <a:gd name="adj" fmla="val 66667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2557463"/>
            <a:ext cx="1849896" cy="571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0094" y="2700338"/>
            <a:ext cx="19194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Fallback Coverage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635479" y="2700338"/>
            <a:ext cx="3393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15pts</a:t>
            </a:r>
            <a:endParaRPr lang="en-US" sz="731" dirty="0"/>
          </a:p>
        </p:txBody>
      </p:sp>
      <p:sp>
        <p:nvSpPr>
          <p:cNvPr id="17" name="Text 13"/>
          <p:cNvSpPr/>
          <p:nvPr/>
        </p:nvSpPr>
        <p:spPr>
          <a:xfrm>
            <a:off x="750094" y="2882503"/>
            <a:ext cx="2176388" cy="57150"/>
          </a:xfrm>
          <a:prstGeom prst="roundRect">
            <a:avLst>
              <a:gd name="adj" fmla="val 66667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2882503"/>
            <a:ext cx="1958727" cy="571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0094" y="3025378"/>
            <a:ext cx="19194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Risk Distribution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2635479" y="3025378"/>
            <a:ext cx="3393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15pts</a:t>
            </a:r>
            <a:endParaRPr lang="en-US" sz="731" dirty="0"/>
          </a:p>
        </p:txBody>
      </p:sp>
      <p:sp>
        <p:nvSpPr>
          <p:cNvPr id="21" name="Text 16"/>
          <p:cNvSpPr/>
          <p:nvPr/>
        </p:nvSpPr>
        <p:spPr>
          <a:xfrm>
            <a:off x="750094" y="3207544"/>
            <a:ext cx="2176388" cy="57150"/>
          </a:xfrm>
          <a:prstGeom prst="roundRect">
            <a:avLst>
              <a:gd name="adj" fmla="val 66667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3207544"/>
            <a:ext cx="1697534" cy="571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0094" y="3350419"/>
            <a:ext cx="19194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Branch Complexity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2635479" y="3350419"/>
            <a:ext cx="3393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12pts</a:t>
            </a:r>
            <a:endParaRPr lang="en-US" sz="731" dirty="0"/>
          </a:p>
        </p:txBody>
      </p:sp>
      <p:sp>
        <p:nvSpPr>
          <p:cNvPr id="25" name="Text 19"/>
          <p:cNvSpPr/>
          <p:nvPr/>
        </p:nvSpPr>
        <p:spPr>
          <a:xfrm>
            <a:off x="750094" y="3532584"/>
            <a:ext cx="2176388" cy="57150"/>
          </a:xfrm>
          <a:prstGeom prst="roundRect">
            <a:avLst>
              <a:gd name="adj" fmla="val 66667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3532584"/>
            <a:ext cx="1523405" cy="571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0094" y="3675459"/>
            <a:ext cx="19194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 Variety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2635479" y="3675459"/>
            <a:ext cx="3393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10pts</a:t>
            </a:r>
            <a:endParaRPr lang="en-US" sz="731" dirty="0"/>
          </a:p>
        </p:txBody>
      </p:sp>
      <p:sp>
        <p:nvSpPr>
          <p:cNvPr id="29" name="Text 22"/>
          <p:cNvSpPr/>
          <p:nvPr/>
        </p:nvSpPr>
        <p:spPr>
          <a:xfrm>
            <a:off x="750094" y="3857625"/>
            <a:ext cx="2176388" cy="57150"/>
          </a:xfrm>
          <a:prstGeom prst="roundRect">
            <a:avLst>
              <a:gd name="adj" fmla="val 66667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3857625"/>
            <a:ext cx="1915195" cy="571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0094" y="4000500"/>
            <a:ext cx="19194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Dependency Health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2635479" y="4000500"/>
            <a:ext cx="3393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10pts</a:t>
            </a:r>
            <a:endParaRPr lang="en-US" sz="731" dirty="0"/>
          </a:p>
        </p:txBody>
      </p:sp>
      <p:sp>
        <p:nvSpPr>
          <p:cNvPr id="33" name="Text 25"/>
          <p:cNvSpPr/>
          <p:nvPr/>
        </p:nvSpPr>
        <p:spPr>
          <a:xfrm>
            <a:off x="750094" y="4182666"/>
            <a:ext cx="2176388" cy="57150"/>
          </a:xfrm>
          <a:prstGeom prst="roundRect">
            <a:avLst>
              <a:gd name="adj" fmla="val 66667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4182666"/>
            <a:ext cx="1784598" cy="5715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308672" y="1175147"/>
            <a:ext cx="2526543" cy="3643313"/>
          </a:xfrm>
          <a:prstGeom prst="roundRect">
            <a:avLst>
              <a:gd name="adj" fmla="val 6032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3483694" y="138588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37" name="Text 28"/>
          <p:cNvSpPr/>
          <p:nvPr/>
        </p:nvSpPr>
        <p:spPr>
          <a:xfrm>
            <a:off x="3769444" y="1378744"/>
            <a:ext cx="189075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Monte Carlo</a:t>
            </a:r>
            <a:endParaRPr lang="en-US" sz="1125" dirty="0"/>
          </a:p>
        </p:txBody>
      </p:sp>
      <p:sp>
        <p:nvSpPr>
          <p:cNvPr id="38" name="Text 29"/>
          <p:cNvSpPr/>
          <p:nvPr/>
        </p:nvSpPr>
        <p:spPr>
          <a:xfrm>
            <a:off x="3483694" y="1735931"/>
            <a:ext cx="2176500" cy="5154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5,000</a:t>
            </a:r>
            <a:endParaRPr lang="en-US" sz="2700" dirty="0"/>
          </a:p>
        </p:txBody>
      </p:sp>
      <p:sp>
        <p:nvSpPr>
          <p:cNvPr id="39" name="Text 30"/>
          <p:cNvSpPr/>
          <p:nvPr/>
        </p:nvSpPr>
        <p:spPr>
          <a:xfrm>
            <a:off x="3483694" y="2278856"/>
            <a:ext cx="2176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simulations per analysis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3483694" y="2600325"/>
            <a:ext cx="2176500" cy="414338"/>
          </a:xfrm>
          <a:prstGeom prst="roundRect">
            <a:avLst>
              <a:gd name="adj" fmla="val 22988"/>
            </a:avLst>
          </a:prstGeom>
          <a:solidFill>
            <a:srgbClr val="D4AF37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3612282" y="2732484"/>
            <a:ext cx="13807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P50 (Median)</a:t>
            </a:r>
            <a:endParaRPr lang="en-US" sz="800" dirty="0"/>
          </a:p>
        </p:txBody>
      </p:sp>
      <p:sp>
        <p:nvSpPr>
          <p:cNvPr id="42" name="Text 33"/>
          <p:cNvSpPr/>
          <p:nvPr/>
        </p:nvSpPr>
        <p:spPr>
          <a:xfrm>
            <a:off x="4940995" y="2700338"/>
            <a:ext cx="6569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 days</a:t>
            </a:r>
            <a:endParaRPr lang="en-US" sz="1125" dirty="0"/>
          </a:p>
        </p:txBody>
      </p:sp>
      <p:sp>
        <p:nvSpPr>
          <p:cNvPr id="43" name="Text 34"/>
          <p:cNvSpPr/>
          <p:nvPr/>
        </p:nvSpPr>
        <p:spPr>
          <a:xfrm>
            <a:off x="3483694" y="3128963"/>
            <a:ext cx="2176500" cy="414338"/>
          </a:xfrm>
          <a:prstGeom prst="roundRect">
            <a:avLst>
              <a:gd name="adj" fmla="val 22988"/>
            </a:avLst>
          </a:prstGeom>
          <a:solidFill>
            <a:srgbClr val="D4AF37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5"/>
          <p:cNvSpPr/>
          <p:nvPr/>
        </p:nvSpPr>
        <p:spPr>
          <a:xfrm>
            <a:off x="3612282" y="3261122"/>
            <a:ext cx="13807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P75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4940995" y="3228975"/>
            <a:ext cx="6569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38 days</a:t>
            </a:r>
            <a:endParaRPr lang="en-US" sz="1125" dirty="0"/>
          </a:p>
        </p:txBody>
      </p:sp>
      <p:sp>
        <p:nvSpPr>
          <p:cNvPr id="46" name="Text 37"/>
          <p:cNvSpPr/>
          <p:nvPr/>
        </p:nvSpPr>
        <p:spPr>
          <a:xfrm>
            <a:off x="3487266" y="3661172"/>
            <a:ext cx="2169356" cy="421481"/>
          </a:xfrm>
          <a:prstGeom prst="roundRect">
            <a:avLst>
              <a:gd name="adj" fmla="val 22599"/>
            </a:avLst>
          </a:prstGeom>
          <a:solidFill>
            <a:srgbClr val="D4AF37">
              <a:alpha val="8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8"/>
          <p:cNvSpPr/>
          <p:nvPr/>
        </p:nvSpPr>
        <p:spPr>
          <a:xfrm>
            <a:off x="3619426" y="3796903"/>
            <a:ext cx="13664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P90</a:t>
            </a:r>
            <a:endParaRPr lang="en-US" sz="800" dirty="0"/>
          </a:p>
        </p:txBody>
      </p:sp>
      <p:sp>
        <p:nvSpPr>
          <p:cNvPr id="48" name="Text 39"/>
          <p:cNvSpPr/>
          <p:nvPr/>
        </p:nvSpPr>
        <p:spPr>
          <a:xfrm>
            <a:off x="4933851" y="3764756"/>
            <a:ext cx="6569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 days</a:t>
            </a:r>
            <a:endParaRPr lang="en-US" sz="1125" dirty="0"/>
          </a:p>
        </p:txBody>
      </p:sp>
      <p:sp>
        <p:nvSpPr>
          <p:cNvPr id="49" name="Text 40"/>
          <p:cNvSpPr/>
          <p:nvPr/>
        </p:nvSpPr>
        <p:spPr>
          <a:xfrm>
            <a:off x="3483694" y="4200525"/>
            <a:ext cx="2176500" cy="414338"/>
          </a:xfrm>
          <a:prstGeom prst="roundRect">
            <a:avLst>
              <a:gd name="adj" fmla="val 22988"/>
            </a:avLst>
          </a:prstGeom>
          <a:solidFill>
            <a:srgbClr val="D4AF37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1"/>
          <p:cNvSpPr/>
          <p:nvPr/>
        </p:nvSpPr>
        <p:spPr>
          <a:xfrm>
            <a:off x="3612282" y="4332684"/>
            <a:ext cx="13807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P99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4940995" y="4300538"/>
            <a:ext cx="6569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58 days</a:t>
            </a:r>
            <a:endParaRPr lang="en-US" sz="1125" dirty="0"/>
          </a:p>
        </p:txBody>
      </p:sp>
      <p:sp>
        <p:nvSpPr>
          <p:cNvPr id="52" name="Text 43"/>
          <p:cNvSpPr/>
          <p:nvPr/>
        </p:nvSpPr>
        <p:spPr>
          <a:xfrm>
            <a:off x="6042385" y="1175147"/>
            <a:ext cx="2526543" cy="3643313"/>
          </a:xfrm>
          <a:prstGeom prst="roundRect">
            <a:avLst>
              <a:gd name="adj" fmla="val 6032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6217407" y="138588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969" dirty="0"/>
          </a:p>
        </p:txBody>
      </p:sp>
      <p:sp>
        <p:nvSpPr>
          <p:cNvPr id="54" name="Text 45"/>
          <p:cNvSpPr/>
          <p:nvPr/>
        </p:nvSpPr>
        <p:spPr>
          <a:xfrm>
            <a:off x="6503157" y="1378744"/>
            <a:ext cx="189075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Insights</a:t>
            </a:r>
            <a:endParaRPr lang="en-US" sz="1125" dirty="0"/>
          </a:p>
        </p:txBody>
      </p:sp>
      <p:sp>
        <p:nvSpPr>
          <p:cNvPr id="55" name="Text 46"/>
          <p:cNvSpPr/>
          <p:nvPr/>
        </p:nvSpPr>
        <p:spPr>
          <a:xfrm>
            <a:off x="6217407" y="1735931"/>
            <a:ext cx="22862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0DC">
                    <a:alpha val="6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annotations on your route:</a:t>
            </a:r>
            <a:endParaRPr lang="en-US" sz="800" dirty="0"/>
          </a:p>
        </p:txBody>
      </p:sp>
      <p:sp>
        <p:nvSpPr>
          <p:cNvPr id="56" name="Text 47"/>
          <p:cNvSpPr/>
          <p:nvPr/>
        </p:nvSpPr>
        <p:spPr>
          <a:xfrm>
            <a:off x="6217407" y="20431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57" name="Text 48"/>
          <p:cNvSpPr/>
          <p:nvPr/>
        </p:nvSpPr>
        <p:spPr>
          <a:xfrm>
            <a:off x="6446007" y="2028825"/>
            <a:ext cx="135542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ADE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Breakthroughs</a:t>
            </a:r>
            <a:endParaRPr lang="en-US" sz="800" dirty="0"/>
          </a:p>
        </p:txBody>
      </p:sp>
      <p:sp>
        <p:nvSpPr>
          <p:cNvPr id="58" name="Text 49"/>
          <p:cNvSpPr/>
          <p:nvPr/>
        </p:nvSpPr>
        <p:spPr>
          <a:xfrm>
            <a:off x="6446007" y="2178844"/>
            <a:ext cx="12490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Identified acceleration paths</a:t>
            </a:r>
            <a:endParaRPr lang="en-US" sz="731" dirty="0"/>
          </a:p>
        </p:txBody>
      </p:sp>
      <p:sp>
        <p:nvSpPr>
          <p:cNvPr id="59" name="Text 50"/>
          <p:cNvSpPr/>
          <p:nvPr/>
        </p:nvSpPr>
        <p:spPr>
          <a:xfrm>
            <a:off x="6217407" y="243244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60" name="Text 51"/>
          <p:cNvSpPr/>
          <p:nvPr/>
        </p:nvSpPr>
        <p:spPr>
          <a:xfrm>
            <a:off x="6446007" y="2418159"/>
            <a:ext cx="132145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87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Warnings</a:t>
            </a:r>
            <a:endParaRPr lang="en-US" sz="800" dirty="0"/>
          </a:p>
        </p:txBody>
      </p:sp>
      <p:sp>
        <p:nvSpPr>
          <p:cNvPr id="61" name="Text 52"/>
          <p:cNvSpPr/>
          <p:nvPr/>
        </p:nvSpPr>
        <p:spPr>
          <a:xfrm>
            <a:off x="6446007" y="2568178"/>
            <a:ext cx="11356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Risky steps flagged early</a:t>
            </a:r>
            <a:endParaRPr lang="en-US" sz="731" dirty="0"/>
          </a:p>
        </p:txBody>
      </p:sp>
      <p:sp>
        <p:nvSpPr>
          <p:cNvPr id="62" name="Text 53"/>
          <p:cNvSpPr/>
          <p:nvPr/>
        </p:nvSpPr>
        <p:spPr>
          <a:xfrm>
            <a:off x="6217407" y="282178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⏭</a:t>
            </a:r>
            <a:endParaRPr lang="en-US" sz="1406" dirty="0"/>
          </a:p>
        </p:txBody>
      </p:sp>
      <p:sp>
        <p:nvSpPr>
          <p:cNvPr id="63" name="Text 54"/>
          <p:cNvSpPr/>
          <p:nvPr/>
        </p:nvSpPr>
        <p:spPr>
          <a:xfrm>
            <a:off x="6446007" y="2807494"/>
            <a:ext cx="132507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Skip Paths</a:t>
            </a:r>
            <a:endParaRPr lang="en-US" sz="800" dirty="0"/>
          </a:p>
        </p:txBody>
      </p:sp>
      <p:sp>
        <p:nvSpPr>
          <p:cNvPr id="64" name="Text 55"/>
          <p:cNvSpPr/>
          <p:nvPr/>
        </p:nvSpPr>
        <p:spPr>
          <a:xfrm>
            <a:off x="6446007" y="2957513"/>
            <a:ext cx="12210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Optional shortcuts detected</a:t>
            </a:r>
            <a:endParaRPr lang="en-US" sz="731" dirty="0"/>
          </a:p>
        </p:txBody>
      </p:sp>
      <p:sp>
        <p:nvSpPr>
          <p:cNvPr id="65" name="Text 56"/>
          <p:cNvSpPr/>
          <p:nvPr/>
        </p:nvSpPr>
        <p:spPr>
          <a:xfrm>
            <a:off x="6217407" y="32111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66" name="Text 57"/>
          <p:cNvSpPr/>
          <p:nvPr/>
        </p:nvSpPr>
        <p:spPr>
          <a:xfrm>
            <a:off x="6446007" y="3196828"/>
            <a:ext cx="194138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Loops</a:t>
            </a:r>
            <a:endParaRPr lang="en-US" sz="800" dirty="0"/>
          </a:p>
        </p:txBody>
      </p:sp>
      <p:sp>
        <p:nvSpPr>
          <p:cNvPr id="67" name="Text 58"/>
          <p:cNvSpPr/>
          <p:nvPr/>
        </p:nvSpPr>
        <p:spPr>
          <a:xfrm>
            <a:off x="6446007" y="3346847"/>
            <a:ext cx="13270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Circular dependencies caught</a:t>
            </a:r>
            <a:endParaRPr lang="en-US" sz="731" dirty="0"/>
          </a:p>
        </p:txBody>
      </p:sp>
      <p:sp>
        <p:nvSpPr>
          <p:cNvPr id="68" name="Text 59"/>
          <p:cNvSpPr/>
          <p:nvPr/>
        </p:nvSpPr>
        <p:spPr>
          <a:xfrm>
            <a:off x="575072" y="4997053"/>
            <a:ext cx="7993856" cy="485775"/>
          </a:xfrm>
          <a:prstGeom prst="roundRect">
            <a:avLst>
              <a:gd name="adj" fmla="val 19608"/>
            </a:avLst>
          </a:prstGeom>
          <a:solidFill>
            <a:srgbClr val="D4AF37">
              <a:alpha val="5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0"/>
          <p:cNvSpPr/>
          <p:nvPr/>
        </p:nvSpPr>
        <p:spPr>
          <a:xfrm>
            <a:off x="750094" y="5100638"/>
            <a:ext cx="764381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 Health Engine scores: 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Success Probability (40pts)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Fallback Coverage (15pts)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Risk Distribution (15pts)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Branch Complexity (12pts)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Variety (10pts)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Dependency Health (10pts)</a:t>
            </a:r>
            <a:endParaRPr lang="en-US" sz="800" dirty="0"/>
          </a:p>
        </p:txBody>
      </p:sp>
      <p:sp>
        <p:nvSpPr>
          <p:cNvPr id="70" name="Text 61"/>
          <p:cNvSpPr/>
          <p:nvPr/>
        </p:nvSpPr>
        <p:spPr>
          <a:xfrm>
            <a:off x="8459717" y="4804172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3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85725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l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Enterprise-Grade PM </a:t>
            </a:r>
            <a:pPr algn="l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 a Desktop App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571500" y="871538"/>
            <a:ext cx="428625" cy="21431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71500" y="1857375"/>
            <a:ext cx="4243388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22158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6" name="Text 4"/>
          <p:cNvSpPr/>
          <p:nvPr/>
        </p:nvSpPr>
        <p:spPr>
          <a:xfrm>
            <a:off x="828675" y="1207294"/>
            <a:ext cx="328612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 FSM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828675" y="1398889"/>
            <a:ext cx="504862" cy="224028"/>
          </a:xfrm>
          <a:prstGeom prst="roundRect">
            <a:avLst>
              <a:gd name="adj" fmla="val 34014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8675" y="1410891"/>
            <a:ext cx="5048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DRAFT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6400" y="146089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1519275" y="1398889"/>
            <a:ext cx="514462" cy="224028"/>
          </a:xfrm>
          <a:prstGeom prst="roundRect">
            <a:avLst>
              <a:gd name="adj" fmla="val 34014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19275" y="1410891"/>
            <a:ext cx="5144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76599" y="146089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13" name="Text 11"/>
          <p:cNvSpPr/>
          <p:nvPr/>
        </p:nvSpPr>
        <p:spPr>
          <a:xfrm>
            <a:off x="2219474" y="1398889"/>
            <a:ext cx="528749" cy="224028"/>
          </a:xfrm>
          <a:prstGeom prst="roundRect">
            <a:avLst>
              <a:gd name="adj" fmla="val 34014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19474" y="1410891"/>
            <a:ext cx="5287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91085" y="146089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84" dirty="0"/>
          </a:p>
        </p:txBody>
      </p:sp>
      <p:sp>
        <p:nvSpPr>
          <p:cNvPr id="16" name="Text 14"/>
          <p:cNvSpPr/>
          <p:nvPr/>
        </p:nvSpPr>
        <p:spPr>
          <a:xfrm>
            <a:off x="2933960" y="1398889"/>
            <a:ext cx="462000" cy="224028"/>
          </a:xfrm>
          <a:prstGeom prst="roundRect">
            <a:avLst>
              <a:gd name="adj" fmla="val 34014"/>
            </a:avLst>
          </a:prstGeom>
          <a:solidFill>
            <a:srgbClr val="D4AF37">
              <a:alpha val="10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33960" y="1410891"/>
            <a:ext cx="462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8675" y="1639491"/>
            <a:ext cx="277266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legal transitions enforced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1500" y="2421731"/>
            <a:ext cx="4243388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" y="196095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547" dirty="0"/>
          </a:p>
        </p:txBody>
      </p:sp>
      <p:sp>
        <p:nvSpPr>
          <p:cNvPr id="21" name="Text 19"/>
          <p:cNvSpPr/>
          <p:nvPr/>
        </p:nvSpPr>
        <p:spPr>
          <a:xfrm>
            <a:off x="828675" y="1946672"/>
            <a:ext cx="214925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0D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Dependency Types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828675" y="2139339"/>
            <a:ext cx="290215" cy="204026"/>
          </a:xfrm>
          <a:prstGeom prst="roundRect">
            <a:avLst>
              <a:gd name="adj" fmla="val 28011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8675" y="2150269"/>
            <a:ext cx="29021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90327" y="2139339"/>
            <a:ext cx="284969" cy="204026"/>
          </a:xfrm>
          <a:prstGeom prst="roundRect">
            <a:avLst>
              <a:gd name="adj" fmla="val 28011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90327" y="2150269"/>
            <a:ext cx="28496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FF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46733" y="2139339"/>
            <a:ext cx="295349" cy="204026"/>
          </a:xfrm>
          <a:prstGeom prst="roundRect">
            <a:avLst>
              <a:gd name="adj" fmla="val 28011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46733" y="2150269"/>
            <a:ext cx="29534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13520" y="2139339"/>
            <a:ext cx="290215" cy="204026"/>
          </a:xfrm>
          <a:prstGeom prst="roundRect">
            <a:avLst>
              <a:gd name="adj" fmla="val 28011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913520" y="2150269"/>
            <a:ext cx="29021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D0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SF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75173" y="2177058"/>
            <a:ext cx="7036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lag support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571500" y="2928938"/>
            <a:ext cx="4243388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" y="252531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547" dirty="0"/>
          </a:p>
        </p:txBody>
      </p:sp>
      <p:sp>
        <p:nvSpPr>
          <p:cNvPr id="33" name="Text 31"/>
          <p:cNvSpPr/>
          <p:nvPr/>
        </p:nvSpPr>
        <p:spPr>
          <a:xfrm>
            <a:off x="828675" y="2511028"/>
            <a:ext cx="262064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CPM — Critical Path Method</a:t>
            </a:r>
            <a:endParaRPr lang="en-US" sz="844" dirty="0"/>
          </a:p>
        </p:txBody>
      </p:sp>
      <p:sp>
        <p:nvSpPr>
          <p:cNvPr id="34" name="Text 32"/>
          <p:cNvSpPr/>
          <p:nvPr/>
        </p:nvSpPr>
        <p:spPr>
          <a:xfrm>
            <a:off x="828675" y="2700338"/>
            <a:ext cx="249584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0DC">
                    <a:alpha val="6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Forward + backward pass, working-hour calendar integration</a:t>
            </a:r>
            <a:endParaRPr lang="en-US" sz="731" dirty="0"/>
          </a:p>
        </p:txBody>
      </p:sp>
      <p:sp>
        <p:nvSpPr>
          <p:cNvPr id="35" name="Shape 33"/>
          <p:cNvSpPr/>
          <p:nvPr/>
        </p:nvSpPr>
        <p:spPr>
          <a:xfrm>
            <a:off x="571500" y="3436144"/>
            <a:ext cx="4243388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" y="303252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547" dirty="0"/>
          </a:p>
        </p:txBody>
      </p:sp>
      <p:sp>
        <p:nvSpPr>
          <p:cNvPr id="37" name="Text 35"/>
          <p:cNvSpPr/>
          <p:nvPr/>
        </p:nvSpPr>
        <p:spPr>
          <a:xfrm>
            <a:off x="828675" y="3018234"/>
            <a:ext cx="2752059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PERT Analysis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828675" y="3207544"/>
            <a:ext cx="234817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0DC">
                    <a:alpha val="6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Optimistic / Most Likely / Pessimistic — variance analysis</a:t>
            </a:r>
            <a:endParaRPr lang="en-US" sz="731" dirty="0"/>
          </a:p>
        </p:txBody>
      </p:sp>
      <p:sp>
        <p:nvSpPr>
          <p:cNvPr id="39" name="Shape 37"/>
          <p:cNvSpPr/>
          <p:nvPr/>
        </p:nvSpPr>
        <p:spPr>
          <a:xfrm>
            <a:off x="571500" y="3943350"/>
            <a:ext cx="4243388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" y="353972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1" name="Text 39"/>
          <p:cNvSpPr/>
          <p:nvPr/>
        </p:nvSpPr>
        <p:spPr>
          <a:xfrm>
            <a:off x="828675" y="3525441"/>
            <a:ext cx="226751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Monte Carlo Simulation</a:t>
            </a:r>
            <a:endParaRPr lang="en-US" sz="844" dirty="0"/>
          </a:p>
        </p:txBody>
      </p:sp>
      <p:sp>
        <p:nvSpPr>
          <p:cNvPr id="42" name="Text 40"/>
          <p:cNvSpPr/>
          <p:nvPr/>
        </p:nvSpPr>
        <p:spPr>
          <a:xfrm>
            <a:off x="828675" y="3714750"/>
            <a:ext cx="215953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0DC">
                    <a:alpha val="6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Triangular distribution sampling, confidence intervals</a:t>
            </a:r>
            <a:endParaRPr lang="en-US" sz="731" dirty="0"/>
          </a:p>
        </p:txBody>
      </p:sp>
      <p:sp>
        <p:nvSpPr>
          <p:cNvPr id="43" name="Text 41"/>
          <p:cNvSpPr/>
          <p:nvPr/>
        </p:nvSpPr>
        <p:spPr>
          <a:xfrm>
            <a:off x="571500" y="404693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547" dirty="0"/>
          </a:p>
        </p:txBody>
      </p:sp>
      <p:sp>
        <p:nvSpPr>
          <p:cNvPr id="44" name="Text 42"/>
          <p:cNvSpPr/>
          <p:nvPr/>
        </p:nvSpPr>
        <p:spPr>
          <a:xfrm>
            <a:off x="828675" y="4032647"/>
            <a:ext cx="2119132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Resource Leveling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828675" y="4221956"/>
            <a:ext cx="2018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0DC">
                    <a:alpha val="6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Greedy heuristic with conflict resolution algorithm</a:t>
            </a:r>
            <a:endParaRPr lang="en-US" sz="731" dirty="0"/>
          </a:p>
        </p:txBody>
      </p:sp>
      <p:sp>
        <p:nvSpPr>
          <p:cNvPr id="46" name="Text 44"/>
          <p:cNvSpPr/>
          <p:nvPr/>
        </p:nvSpPr>
        <p:spPr>
          <a:xfrm>
            <a:off x="5104209" y="1125141"/>
            <a:ext cx="1671638" cy="1803797"/>
          </a:xfrm>
          <a:prstGeom prst="roundRect">
            <a:avLst>
              <a:gd name="adj" fmla="val 6838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825728" y="170199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5756635" y="2002036"/>
            <a:ext cx="4694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Kanban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18336" y="2223492"/>
            <a:ext cx="7539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5F0DC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status columns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6897291" y="1125141"/>
            <a:ext cx="1671638" cy="1803797"/>
          </a:xfrm>
          <a:prstGeom prst="roundRect">
            <a:avLst>
              <a:gd name="adj" fmla="val 6838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618809" y="170199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2250" dirty="0"/>
          </a:p>
        </p:txBody>
      </p:sp>
      <p:sp>
        <p:nvSpPr>
          <p:cNvPr id="52" name="Text 50"/>
          <p:cNvSpPr/>
          <p:nvPr/>
        </p:nvSpPr>
        <p:spPr>
          <a:xfrm>
            <a:off x="7602513" y="2002036"/>
            <a:ext cx="4126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Gantt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20223" y="2223492"/>
            <a:ext cx="9678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Time-scaled bar chart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5104209" y="3050381"/>
            <a:ext cx="1671638" cy="1803797"/>
          </a:xfrm>
          <a:prstGeom prst="roundRect">
            <a:avLst>
              <a:gd name="adj" fmla="val 6838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825728" y="362723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2250" dirty="0"/>
          </a:p>
        </p:txBody>
      </p:sp>
      <p:sp>
        <p:nvSpPr>
          <p:cNvPr id="56" name="Text 54"/>
          <p:cNvSpPr/>
          <p:nvPr/>
        </p:nvSpPr>
        <p:spPr>
          <a:xfrm>
            <a:off x="5648031" y="3927277"/>
            <a:ext cx="6604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Statistics</a:t>
            </a:r>
            <a:endParaRPr lang="en-US" sz="788" dirty="0"/>
          </a:p>
        </p:txBody>
      </p:sp>
      <p:sp>
        <p:nvSpPr>
          <p:cNvPr id="57" name="Text 55"/>
          <p:cNvSpPr/>
          <p:nvPr/>
        </p:nvSpPr>
        <p:spPr>
          <a:xfrm>
            <a:off x="5586189" y="4148733"/>
            <a:ext cx="8293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Donut + bar charts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6897291" y="3050381"/>
            <a:ext cx="1671638" cy="1803797"/>
          </a:xfrm>
          <a:prstGeom prst="roundRect">
            <a:avLst>
              <a:gd name="adj" fmla="val 6838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618809" y="3627239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2250" dirty="0"/>
          </a:p>
        </p:txBody>
      </p:sp>
      <p:sp>
        <p:nvSpPr>
          <p:cNvPr id="60" name="Text 58"/>
          <p:cNvSpPr/>
          <p:nvPr/>
        </p:nvSpPr>
        <p:spPr>
          <a:xfrm>
            <a:off x="7585770" y="3927277"/>
            <a:ext cx="4654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5F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209606" y="4148733"/>
            <a:ext cx="1130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dependency network</a:t>
            </a:r>
            <a:endParaRPr lang="en-US" sz="675" dirty="0"/>
          </a:p>
        </p:txBody>
      </p:sp>
      <p:sp>
        <p:nvSpPr>
          <p:cNvPr id="62" name="Text 60"/>
          <p:cNvSpPr/>
          <p:nvPr/>
        </p:nvSpPr>
        <p:spPr>
          <a:xfrm>
            <a:off x="8459717" y="4804172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3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8401050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F5F0D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📤</a:t>
            </a:r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Export </a:t>
            </a:r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Everything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914400"/>
            <a:ext cx="428625" cy="21431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5072" y="1225153"/>
            <a:ext cx="2545519" cy="1725216"/>
          </a:xfrm>
          <a:prstGeom prst="roundRect">
            <a:avLst>
              <a:gd name="adj" fmla="val 8834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0094" y="1428750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0813" y="1469469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750094" y="1914525"/>
            <a:ext cx="219547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CSV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750094" y="2221706"/>
            <a:ext cx="2195475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Tasks, dependencies, route steps — universal spreadsheet format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99185" y="1225153"/>
            <a:ext cx="2545519" cy="1725216"/>
          </a:xfrm>
          <a:prstGeom prst="roundRect">
            <a:avLst>
              <a:gd name="adj" fmla="val 8834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74207" y="1428750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14926" y="1469469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12" name="Text 10"/>
          <p:cNvSpPr/>
          <p:nvPr/>
        </p:nvSpPr>
        <p:spPr>
          <a:xfrm>
            <a:off x="3474207" y="1914525"/>
            <a:ext cx="219547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Excel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3474207" y="2221706"/>
            <a:ext cx="2195475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Multi-sheet, styled, risk color-coded, RTL support for Persian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23297" y="1225153"/>
            <a:ext cx="2545631" cy="1725216"/>
          </a:xfrm>
          <a:prstGeom prst="roundRect">
            <a:avLst>
              <a:gd name="adj" fmla="val 8834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98319" y="1428750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39039" y="1469469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17" name="Text 15"/>
          <p:cNvSpPr/>
          <p:nvPr/>
        </p:nvSpPr>
        <p:spPr>
          <a:xfrm>
            <a:off x="6198319" y="1914525"/>
            <a:ext cx="219558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HTML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6198319" y="2221706"/>
            <a:ext cx="2195587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Self-contained, dark theme, Persian script — open in any browser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5072" y="3128963"/>
            <a:ext cx="2545519" cy="1725216"/>
          </a:xfrm>
          <a:prstGeom prst="roundRect">
            <a:avLst>
              <a:gd name="adj" fmla="val 8834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0094" y="3332559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0813" y="3373279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969" dirty="0"/>
          </a:p>
        </p:txBody>
      </p:sp>
      <p:sp>
        <p:nvSpPr>
          <p:cNvPr id="22" name="Text 20"/>
          <p:cNvSpPr/>
          <p:nvPr/>
        </p:nvSpPr>
        <p:spPr>
          <a:xfrm>
            <a:off x="750094" y="3818334"/>
            <a:ext cx="219547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Mermaid</a:t>
            </a:r>
            <a:endParaRPr lang="en-US" sz="1238" dirty="0"/>
          </a:p>
        </p:txBody>
      </p:sp>
      <p:sp>
        <p:nvSpPr>
          <p:cNvPr id="23" name="Text 21"/>
          <p:cNvSpPr/>
          <p:nvPr/>
        </p:nvSpPr>
        <p:spPr>
          <a:xfrm>
            <a:off x="750094" y="4125516"/>
            <a:ext cx="2195475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Flowchart syntax with critical path highlighting — ready to render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99185" y="3128963"/>
            <a:ext cx="2545519" cy="1725216"/>
          </a:xfrm>
          <a:prstGeom prst="roundRect">
            <a:avLst>
              <a:gd name="adj" fmla="val 8834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74207" y="3332559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14926" y="3373279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7" name="Text 25"/>
          <p:cNvSpPr/>
          <p:nvPr/>
        </p:nvSpPr>
        <p:spPr>
          <a:xfrm>
            <a:off x="3474207" y="3818334"/>
            <a:ext cx="219547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JSON</a:t>
            </a:r>
            <a:endParaRPr lang="en-US" sz="1238" dirty="0"/>
          </a:p>
        </p:txBody>
      </p:sp>
      <p:sp>
        <p:nvSpPr>
          <p:cNvPr id="28" name="Text 26"/>
          <p:cNvSpPr/>
          <p:nvPr/>
        </p:nvSpPr>
        <p:spPr>
          <a:xfrm>
            <a:off x="3474207" y="4125516"/>
            <a:ext cx="2195475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project snapshot — reimportable, version-controllable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23297" y="3128963"/>
            <a:ext cx="2545631" cy="1725216"/>
          </a:xfrm>
          <a:prstGeom prst="roundRect">
            <a:avLst>
              <a:gd name="adj" fmla="val 8834"/>
            </a:avLst>
          </a:prstGeom>
          <a:solidFill>
            <a:srgbClr val="D4AF37">
              <a:alpha val="4000"/>
            </a:srgbClr>
          </a:solidFill>
          <a:ln w="7144">
            <a:solidFill>
              <a:srgbClr val="D4AF37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98319" y="3332559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D4AF37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39039" y="3373279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32" name="Text 30"/>
          <p:cNvSpPr/>
          <p:nvPr/>
        </p:nvSpPr>
        <p:spPr>
          <a:xfrm>
            <a:off x="6198319" y="3818334"/>
            <a:ext cx="219558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D4AF37">
                    <a:alpha val="70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Calendar ICS</a:t>
            </a:r>
            <a:endParaRPr lang="en-US" sz="1238" dirty="0"/>
          </a:p>
        </p:txBody>
      </p:sp>
      <p:sp>
        <p:nvSpPr>
          <p:cNvPr id="33" name="Text 31"/>
          <p:cNvSpPr/>
          <p:nvPr/>
        </p:nvSpPr>
        <p:spPr>
          <a:xfrm>
            <a:off x="6198319" y="4125516"/>
            <a:ext cx="2305315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 calendar format — </a:t>
            </a:r>
            <a:pPr algn="l" indent="0" marL="0">
              <a:lnSpc>
                <a:spcPts val="1260"/>
              </a:lnSpc>
              <a:buNone/>
            </a:pPr>
            <a:r>
              <a:rPr lang="en-US" sz="800" i="1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coming soon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59717" y="4804172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3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00050"/>
            <a:ext cx="8401050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⚙️ Under the </a:t>
            </a:r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Hood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71500" y="914400"/>
            <a:ext cx="428625" cy="21431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5072" y="1168003"/>
            <a:ext cx="3936206" cy="521494"/>
          </a:xfrm>
          <a:prstGeom prst="roundRect">
            <a:avLst>
              <a:gd name="adj" fmla="val 21918"/>
            </a:avLst>
          </a:prstGeom>
          <a:solidFill>
            <a:srgbClr val="D4AF37">
              <a:alpha val="3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0094" y="1271588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2955" y="130444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1207294" y="1284089"/>
            <a:ext cx="169478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Language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07294" y="1423392"/>
            <a:ext cx="142997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Python 3.11+ with strict typing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4632722" y="1168003"/>
            <a:ext cx="3936206" cy="521494"/>
          </a:xfrm>
          <a:prstGeom prst="roundRect">
            <a:avLst>
              <a:gd name="adj" fmla="val 21918"/>
            </a:avLst>
          </a:prstGeom>
          <a:solidFill>
            <a:srgbClr val="D4AF37">
              <a:alpha val="3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7744" y="1271588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40605" y="130444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5264944" y="1284089"/>
            <a:ext cx="237658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Framework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64944" y="1423392"/>
            <a:ext cx="2005242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PySide6 (Qt for Python) — native desktop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575072" y="1810941"/>
            <a:ext cx="3936206" cy="521494"/>
          </a:xfrm>
          <a:prstGeom prst="roundRect">
            <a:avLst>
              <a:gd name="adj" fmla="val 21918"/>
            </a:avLst>
          </a:prstGeom>
          <a:solidFill>
            <a:srgbClr val="D4AF37">
              <a:alpha val="3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0094" y="1914525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2955" y="194738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1207294" y="1927027"/>
            <a:ext cx="287186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07294" y="2066330"/>
            <a:ext cx="1963049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ZhipuAI GLM-4.5-Flash — streaming API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4632722" y="1810941"/>
            <a:ext cx="3936206" cy="521494"/>
          </a:xfrm>
          <a:prstGeom prst="roundRect">
            <a:avLst>
              <a:gd name="adj" fmla="val 21918"/>
            </a:avLst>
          </a:prstGeom>
          <a:solidFill>
            <a:srgbClr val="D4AF37">
              <a:alpha val="3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07744" y="1914525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40605" y="194738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5264944" y="1927027"/>
            <a:ext cx="241944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64944" y="2066330"/>
            <a:ext cx="2041407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SQLite — thread-safe, autosave every 60s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575072" y="2453878"/>
            <a:ext cx="3936206" cy="521494"/>
          </a:xfrm>
          <a:prstGeom prst="roundRect">
            <a:avLst>
              <a:gd name="adj" fmla="val 21918"/>
            </a:avLst>
          </a:prstGeom>
          <a:solidFill>
            <a:srgbClr val="D4AF37">
              <a:alpha val="3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50094" y="2557463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82955" y="259032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1207294" y="2569964"/>
            <a:ext cx="306471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Algorithms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07294" y="2709267"/>
            <a:ext cx="2614947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Kahn's, DFS 3-color, Forward/Backward pass, Monte Carlo</a:t>
            </a:r>
            <a:endParaRPr lang="en-US" sz="788" dirty="0"/>
          </a:p>
        </p:txBody>
      </p:sp>
      <p:sp>
        <p:nvSpPr>
          <p:cNvPr id="29" name="Text 27"/>
          <p:cNvSpPr/>
          <p:nvPr/>
        </p:nvSpPr>
        <p:spPr>
          <a:xfrm>
            <a:off x="4632722" y="2453878"/>
            <a:ext cx="3936206" cy="521494"/>
          </a:xfrm>
          <a:prstGeom prst="roundRect">
            <a:avLst>
              <a:gd name="adj" fmla="val 21918"/>
            </a:avLst>
          </a:prstGeom>
          <a:solidFill>
            <a:srgbClr val="D4AF37">
              <a:alpha val="3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7744" y="2557463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40605" y="259032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2" name="Text 30"/>
          <p:cNvSpPr/>
          <p:nvPr/>
        </p:nvSpPr>
        <p:spPr>
          <a:xfrm>
            <a:off x="5264944" y="2569964"/>
            <a:ext cx="2907316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64944" y="2709267"/>
            <a:ext cx="198728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QPainterPath — zero external image files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575072" y="3096816"/>
            <a:ext cx="3936206" cy="521494"/>
          </a:xfrm>
          <a:prstGeom prst="roundRect">
            <a:avLst>
              <a:gd name="adj" fmla="val 21918"/>
            </a:avLst>
          </a:prstGeom>
          <a:solidFill>
            <a:srgbClr val="D4AF37">
              <a:alpha val="3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50094" y="3200400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82955" y="323326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7" name="Text 35"/>
          <p:cNvSpPr/>
          <p:nvPr/>
        </p:nvSpPr>
        <p:spPr>
          <a:xfrm>
            <a:off x="1207294" y="3212902"/>
            <a:ext cx="3128963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207294" y="3352205"/>
            <a:ext cx="2535138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Gold-on-Dark — 566-line QSS, single opinionated design</a:t>
            </a:r>
            <a:endParaRPr lang="en-US" sz="788" dirty="0"/>
          </a:p>
        </p:txBody>
      </p:sp>
      <p:sp>
        <p:nvSpPr>
          <p:cNvPr id="39" name="Text 37"/>
          <p:cNvSpPr/>
          <p:nvPr/>
        </p:nvSpPr>
        <p:spPr>
          <a:xfrm>
            <a:off x="4632722" y="3096816"/>
            <a:ext cx="3936206" cy="521494"/>
          </a:xfrm>
          <a:prstGeom prst="roundRect">
            <a:avLst>
              <a:gd name="adj" fmla="val 21918"/>
            </a:avLst>
          </a:prstGeom>
          <a:solidFill>
            <a:srgbClr val="D4AF37">
              <a:alpha val="3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07744" y="3200400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D4AF37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40605" y="323326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42" name="Text 40"/>
          <p:cNvSpPr/>
          <p:nvPr/>
        </p:nvSpPr>
        <p:spPr>
          <a:xfrm>
            <a:off x="5264944" y="3212902"/>
            <a:ext cx="3128962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Calendar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64944" y="3352205"/>
            <a:ext cx="252375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 Shamsi engine — bidirectional Gregorian↔Jalali</a:t>
            </a:r>
            <a:endParaRPr lang="en-US" sz="788" dirty="0"/>
          </a:p>
        </p:txBody>
      </p:sp>
      <p:sp>
        <p:nvSpPr>
          <p:cNvPr id="44" name="Shape 42"/>
          <p:cNvSpPr/>
          <p:nvPr/>
        </p:nvSpPr>
        <p:spPr>
          <a:xfrm>
            <a:off x="571500" y="4289822"/>
            <a:ext cx="8001000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70167" y="4464844"/>
            <a:ext cx="1521190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44"/>
              </a:lnSpc>
              <a:buNone/>
            </a:pPr>
            <a:r>
              <a:rPr lang="en-US" sz="2363" b="1" dirty="0">
                <a:solidFill>
                  <a:srgbClr val="F5D0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~30,000</a:t>
            </a:r>
            <a:endParaRPr lang="en-US" sz="2363" dirty="0"/>
          </a:p>
        </p:txBody>
      </p:sp>
      <p:sp>
        <p:nvSpPr>
          <p:cNvPr id="46" name="Text 44"/>
          <p:cNvSpPr/>
          <p:nvPr/>
        </p:nvSpPr>
        <p:spPr>
          <a:xfrm>
            <a:off x="4735637" y="4539853"/>
            <a:ext cx="90017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lines of Python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4735637" y="4700588"/>
            <a:ext cx="9001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0DC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across 102 files</a:t>
            </a:r>
            <a:endParaRPr lang="en-US" sz="731" dirty="0"/>
          </a:p>
        </p:txBody>
      </p:sp>
      <p:sp>
        <p:nvSpPr>
          <p:cNvPr id="48" name="Text 46"/>
          <p:cNvSpPr/>
          <p:nvPr/>
        </p:nvSpPr>
        <p:spPr>
          <a:xfrm>
            <a:off x="8459717" y="4804172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3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0" y="-1071562"/>
            <a:ext cx="3571875" cy="3571875"/>
          </a:xfrm>
          <a:prstGeom prst="ellipse">
            <a:avLst/>
          </a:prstGeom>
          <a:solidFill>
            <a:srgbClr val="D4AF3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357187" y="3000375"/>
            <a:ext cx="2857500" cy="2857500"/>
          </a:xfrm>
          <a:prstGeom prst="ellipse">
            <a:avLst/>
          </a:prstGeom>
          <a:solidFill>
            <a:srgbClr val="F5D06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28625"/>
            <a:ext cx="8001000" cy="7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66936"/>
            <a:ext cx="8595360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5F0D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RASK! — </a:t>
            </a:r>
            <a:pPr algn="ctr" indent="0" marL="0">
              <a:lnSpc>
                <a:spcPts val="3206"/>
              </a:lnSpc>
              <a:buNone/>
            </a:pPr>
            <a:r>
              <a:rPr lang="en-US" sz="2138" b="1" dirty="0">
                <a:solidFill>
                  <a:srgbClr val="F5D06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Algorithm of Your Life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3718322" y="1359880"/>
            <a:ext cx="2731770" cy="1110996"/>
          </a:xfrm>
          <a:prstGeom prst="rect">
            <a:avLst/>
          </a:prstGeom>
          <a:noFill/>
          <a:ln/>
          <a:effectLst>
            <a:outerShdw sx="100000" sy="100000" kx="0" ky="0" algn="bl" rotWithShape="0" blurRad="762000" dist="50800" dir="16200000">
              <a:srgbClr val="D4AF37">
                <a:alpha val="2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5400" b="1" spc="225" kern="0" dirty="0">
                <a:solidFill>
                  <a:srgbClr val="D4AF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راسک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3219786" y="2645755"/>
            <a:ext cx="2704316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2"/>
              </a:lnSpc>
              <a:buNone/>
            </a:pPr>
            <a:r>
              <a:rPr lang="en-US" sz="1013" i="1" dirty="0">
                <a:solidFill>
                  <a:srgbClr val="F5F0DC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Persian tradition meets AI innovation</a:t>
            </a:r>
            <a:endParaRPr lang="en-US" sz="1013" dirty="0"/>
          </a:p>
        </p:txBody>
      </p:sp>
      <p:sp>
        <p:nvSpPr>
          <p:cNvPr id="8" name="Text 5"/>
          <p:cNvSpPr/>
          <p:nvPr/>
        </p:nvSpPr>
        <p:spPr>
          <a:xfrm>
            <a:off x="2985556" y="2934295"/>
            <a:ext cx="3172776" cy="24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2"/>
              </a:lnSpc>
              <a:buNone/>
            </a:pPr>
            <a:r>
              <a:rPr lang="en-US" sz="1013" i="1" dirty="0">
                <a:solidFill>
                  <a:srgbClr val="F5F0DC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every task has a path, every path has a plan</a:t>
            </a:r>
            <a:endParaRPr lang="en-US" sz="101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3508586"/>
            <a:ext cx="571500" cy="142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23098" y="3780048"/>
            <a:ext cx="2497692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5F0DC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by </a:t>
            </a:r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D4AF37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Littlehomemadestudio</a:t>
            </a:r>
            <a:endParaRPr lang="en-US" sz="844" dirty="0"/>
          </a:p>
        </p:txBody>
      </p:sp>
      <p:sp>
        <p:nvSpPr>
          <p:cNvPr id="11" name="Text 7"/>
          <p:cNvSpPr/>
          <p:nvPr/>
        </p:nvSpPr>
        <p:spPr>
          <a:xfrm>
            <a:off x="3415605" y="4012220"/>
            <a:ext cx="23126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F0DC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GitHub: </a:t>
            </a:r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5D060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github.com/Littlehomemadestudio/Kharazmi</a:t>
            </a:r>
            <a:endParaRPr lang="en-US" sz="788" dirty="0"/>
          </a:p>
        </p:txBody>
      </p:sp>
      <p:sp>
        <p:nvSpPr>
          <p:cNvPr id="12" name="Text 8"/>
          <p:cNvSpPr/>
          <p:nvPr/>
        </p:nvSpPr>
        <p:spPr>
          <a:xfrm>
            <a:off x="3357789" y="4305114"/>
            <a:ext cx="242831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AF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راسک — الگوریتم زندگی شما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07731"/>
            <a:ext cx="8001000" cy="71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9717" y="4804172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5F0DC">
                    <a:alpha val="3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2026-07-21T20:37:09Z</dcterms:created>
  <dcterms:modified xsi:type="dcterms:W3CDTF">2026-07-21T20:37:09Z</dcterms:modified>
</cp:coreProperties>
</file>