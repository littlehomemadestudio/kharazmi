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-914400"/>
            <a:ext cx="2743200" cy="2743200"/>
          </a:xfrm>
          <a:prstGeom prst="roundRect">
            <a:avLst>
              <a:gd name="adj" fmla="val 3471875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685800" y="3543300"/>
            <a:ext cx="2286000" cy="2286000"/>
          </a:xfrm>
          <a:prstGeom prst="roundRect">
            <a:avLst>
              <a:gd name="adj" fmla="val 4166250"/>
            </a:avLst>
          </a:prstGeom>
          <a:solidFill>
            <a:srgbClr val="F5D0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6350"/>
            <a:ext cx="9144000" cy="57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88349" y="4829175"/>
            <a:ext cx="37963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/ 10</a:t>
            </a:r>
            <a:endParaRPr lang="en-US" sz="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053703"/>
            <a:ext cx="457200" cy="71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43425" y="1028700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053703"/>
            <a:ext cx="457200" cy="71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74320" y="1314450"/>
            <a:ext cx="8595248" cy="544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spc="-101" kern="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RASK!</a:t>
            </a:r>
            <a:endParaRPr lang="en-US" sz="4050" dirty="0"/>
          </a:p>
        </p:txBody>
      </p:sp>
      <p:sp>
        <p:nvSpPr>
          <p:cNvPr id="11" name="Text 5"/>
          <p:cNvSpPr/>
          <p:nvPr/>
        </p:nvSpPr>
        <p:spPr>
          <a:xfrm>
            <a:off x="4069723" y="1885950"/>
            <a:ext cx="1004554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025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راسک</a:t>
            </a:r>
            <a:endParaRPr lang="en-US" sz="2025" dirty="0"/>
          </a:p>
        </p:txBody>
      </p:sp>
      <p:sp>
        <p:nvSpPr>
          <p:cNvPr id="12" name="Text 6"/>
          <p:cNvSpPr/>
          <p:nvPr/>
        </p:nvSpPr>
        <p:spPr>
          <a:xfrm>
            <a:off x="274320" y="2457450"/>
            <a:ext cx="85952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spc="34" kern="0" dirty="0">
                <a:solidFill>
                  <a:srgbClr val="F5F0DC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Guide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3460406" y="2771775"/>
            <a:ext cx="222307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Persian Project Planner</a:t>
            </a:r>
            <a:endParaRPr lang="en-US" sz="1013" dirty="0"/>
          </a:p>
        </p:txBody>
      </p:sp>
      <p:sp>
        <p:nvSpPr>
          <p:cNvPr id="14" name="Text 8"/>
          <p:cNvSpPr/>
          <p:nvPr/>
        </p:nvSpPr>
        <p:spPr>
          <a:xfrm>
            <a:off x="2862858" y="3318272"/>
            <a:ext cx="3418173" cy="407194"/>
          </a:xfrm>
          <a:prstGeom prst="roundRect">
            <a:avLst>
              <a:gd name="adj" fmla="val 28070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3095030" y="34361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6" name="Text 10"/>
          <p:cNvSpPr/>
          <p:nvPr/>
        </p:nvSpPr>
        <p:spPr>
          <a:xfrm>
            <a:off x="3380780" y="3436144"/>
            <a:ext cx="2668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Named after Al-Khwarizmi — the father of algorithms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044" y="4089797"/>
            <a:ext cx="685800" cy="71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50569" y="4071938"/>
            <a:ext cx="42863" cy="42863"/>
          </a:xfrm>
          <a:prstGeom prst="roundRect">
            <a:avLst>
              <a:gd name="adj" fmla="val 222197408"/>
            </a:avLst>
          </a:prstGeom>
          <a:solidFill>
            <a:srgbClr val="F5D060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156" y="4089797"/>
            <a:ext cx="685800" cy="7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2200" y="571500"/>
            <a:ext cx="1828800" cy="1828800"/>
          </a:xfrm>
          <a:prstGeom prst="roundRect">
            <a:avLst>
              <a:gd name="adj" fmla="val 5207813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486150"/>
            <a:ext cx="1371600" cy="1371600"/>
          </a:xfrm>
          <a:prstGeom prst="roundRect">
            <a:avLst>
              <a:gd name="adj" fmla="val 6943750"/>
            </a:avLst>
          </a:prstGeom>
          <a:solidFill>
            <a:srgbClr val="F5D0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88349" y="4829175"/>
            <a:ext cx="37963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is RASK!?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800100"/>
            <a:ext cx="571500" cy="28575"/>
          </a:xfrm>
          <a:prstGeom prst="roundRect">
            <a:avLst>
              <a:gd name="adj" fmla="val 3333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4425"/>
            <a:ext cx="2590726" cy="2957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0772" y="1117997"/>
            <a:ext cx="2583582" cy="2950369"/>
          </a:xfrm>
          <a:prstGeom prst="roundRect">
            <a:avLst>
              <a:gd name="adj" fmla="val 589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523963" y="135016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591828" y="1435894"/>
            <a:ext cx="3214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692944" y="1950244"/>
            <a:ext cx="21192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Persian Calendar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2944" y="2264569"/>
            <a:ext cx="2119238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CRUD operations, holidays, and multi-view display — all in Shamsi (Jalali) dates.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26" y="1114425"/>
            <a:ext cx="2590837" cy="29575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80097" y="1117997"/>
            <a:ext cx="2583693" cy="2950369"/>
          </a:xfrm>
          <a:prstGeom prst="roundRect">
            <a:avLst>
              <a:gd name="adj" fmla="val 589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343288" y="135016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411154" y="1435894"/>
            <a:ext cx="3214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🤖</a:t>
            </a:r>
            <a:endParaRPr lang="en-US" sz="2025" dirty="0"/>
          </a:p>
        </p:txBody>
      </p:sp>
      <p:sp>
        <p:nvSpPr>
          <p:cNvPr id="17" name="Text 13"/>
          <p:cNvSpPr/>
          <p:nvPr/>
        </p:nvSpPr>
        <p:spPr>
          <a:xfrm>
            <a:off x="3512269" y="1950244"/>
            <a:ext cx="21193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AI Route Planner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512269" y="2264569"/>
            <a:ext cx="2119350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AI that asks clarifying questions before generating a project plan with branches.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63" y="1114425"/>
            <a:ext cx="2590726" cy="295751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99535" y="1117997"/>
            <a:ext cx="2583582" cy="2950369"/>
          </a:xfrm>
          <a:prstGeom prst="roundRect">
            <a:avLst>
              <a:gd name="adj" fmla="val 589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162726" y="135016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7230591" y="1435894"/>
            <a:ext cx="3214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2025" dirty="0"/>
          </a:p>
        </p:txBody>
      </p:sp>
      <p:sp>
        <p:nvSpPr>
          <p:cNvPr id="23" name="Text 18"/>
          <p:cNvSpPr/>
          <p:nvPr/>
        </p:nvSpPr>
        <p:spPr>
          <a:xfrm>
            <a:off x="6331707" y="1950244"/>
            <a:ext cx="21192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Enterprise PM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331707" y="2264569"/>
            <a:ext cx="2119238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CPM, PERT, Monte Carlo simulation, Gantt chart, and Kanban board — all built in.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097374" y="4304109"/>
            <a:ext cx="2949253" cy="435769"/>
          </a:xfrm>
          <a:prstGeom prst="roundRect">
            <a:avLst>
              <a:gd name="adj" fmla="val 26229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329546" y="445055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7" name="Text 22"/>
          <p:cNvSpPr/>
          <p:nvPr/>
        </p:nvSpPr>
        <p:spPr>
          <a:xfrm>
            <a:off x="3467893" y="4421981"/>
            <a:ext cx="24368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app. One workspace. Total control.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1143000"/>
            <a:ext cx="2057400" cy="2057400"/>
          </a:xfrm>
          <a:prstGeom prst="roundRect">
            <a:avLst>
              <a:gd name="adj" fmla="val 4629167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65194" y="2978944"/>
            <a:ext cx="1600200" cy="1600200"/>
          </a:xfrm>
          <a:prstGeom prst="roundRect">
            <a:avLst>
              <a:gd name="adj" fmla="val 5951786"/>
            </a:avLst>
          </a:prstGeom>
          <a:solidFill>
            <a:srgbClr val="F5D0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22144" y="3421856"/>
            <a:ext cx="2786063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493" y="4836319"/>
            <a:ext cx="37963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Getting Started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800100"/>
            <a:ext cx="571500" cy="28575"/>
          </a:xfrm>
          <a:prstGeom prst="roundRect">
            <a:avLst>
              <a:gd name="adj" fmla="val 3333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72" y="1818084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5788" y="1871663"/>
            <a:ext cx="20716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42975" y="1843088"/>
            <a:ext cx="447055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 Dependencies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42975" y="2071688"/>
            <a:ext cx="459828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Clone the repo and install required packages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0772" y="2418159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5788" y="2471738"/>
            <a:ext cx="20716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42975" y="2443163"/>
            <a:ext cx="447055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Launch the App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42975" y="2671763"/>
            <a:ext cx="459828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the main entry point to start RASK!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0772" y="3018234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5788" y="3071813"/>
            <a:ext cx="20716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2975" y="3043238"/>
            <a:ext cx="447055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Your Mode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42975" y="3271838"/>
            <a:ext cx="459828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project, Empty workspace, or Start fresh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0772" y="3618309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5788" y="3671888"/>
            <a:ext cx="20716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2975" y="3643313"/>
            <a:ext cx="498999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Splash &amp; Go!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42975" y="3871913"/>
            <a:ext cx="425767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splash screen loads (5 seconds) — then you're in!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47122" y="1850231"/>
            <a:ext cx="3136106" cy="2157413"/>
          </a:xfrm>
          <a:prstGeom prst="roundRect">
            <a:avLst>
              <a:gd name="adj" fmla="val 5298"/>
            </a:avLst>
          </a:prstGeom>
          <a:solidFill>
            <a:srgbClr val="0D0D10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22144" y="2053828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EF4444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65019" y="2053828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EAB308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07894" y="2053828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22C55E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36494" y="2025253"/>
            <a:ext cx="2271713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Terminal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22144" y="2311003"/>
            <a:ext cx="2786063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the repository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22144" y="2511028"/>
            <a:ext cx="2786063" cy="331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D06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git clone https://github.com/Littlehomadestudio/Kharazmi.git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22144" y="2953941"/>
            <a:ext cx="2786063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dependencies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22144" y="3153966"/>
            <a:ext cx="2444649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D06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pip install -r requirements.txt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22144" y="3482578"/>
            <a:ext cx="2786063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the application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22144" y="3682603"/>
            <a:ext cx="128622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D06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python main.py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285750"/>
            <a:ext cx="2286000" cy="2286000"/>
          </a:xfrm>
          <a:prstGeom prst="roundRect">
            <a:avLst>
              <a:gd name="adj" fmla="val 4166250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579269" y="2014538"/>
            <a:ext cx="292893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3556" y="3875484"/>
            <a:ext cx="0" cy="257175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88349" y="4829175"/>
            <a:ext cx="37963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The Calendar Tab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800100"/>
            <a:ext cx="571500" cy="28575"/>
          </a:xfrm>
          <a:prstGeom prst="roundRect">
            <a:avLst>
              <a:gd name="adj" fmla="val 3333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3858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742950" y="1371600"/>
            <a:ext cx="22880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Shamsi (Jalali) Calendar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42950" y="1600200"/>
            <a:ext cx="235339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Persian dates everywhere — fully localized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288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742950" y="1914525"/>
            <a:ext cx="225542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Views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742950" y="2143125"/>
            <a:ext cx="190301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Day, Week, Month, and Year views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717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742950" y="2457450"/>
            <a:ext cx="263329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Natural Language Events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42950" y="2686050"/>
            <a:ext cx="270853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 "meeting tomorrow at 3pm" and it just 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146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742950" y="3000375"/>
            <a:ext cx="246792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Right-Click Context Menu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42950" y="3228975"/>
            <a:ext cx="253843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Edit, Delete, Mark Complete — one click away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575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742950" y="3543300"/>
            <a:ext cx="214151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Schedule Button 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742950" y="3771900"/>
            <a:ext cx="220270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scheduling at your fingertips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1005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742950" y="4086225"/>
            <a:ext cx="23215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Add in Sidebar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742950" y="4314825"/>
            <a:ext cx="238787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 event creation without leaving the view</a:t>
            </a:r>
            <a:endParaRPr lang="en-US" sz="9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5" y="1546622"/>
            <a:ext cx="3286125" cy="276463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04247" y="1550194"/>
            <a:ext cx="3278981" cy="2757488"/>
          </a:xfrm>
          <a:prstGeom prst="roundRect">
            <a:avLst>
              <a:gd name="adj" fmla="val 5527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579269" y="17537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‹</a:t>
            </a:r>
            <a:endParaRPr lang="en-US" sz="1406" dirty="0"/>
          </a:p>
        </p:txBody>
      </p:sp>
      <p:sp>
        <p:nvSpPr>
          <p:cNvPr id="29" name="Text 26"/>
          <p:cNvSpPr/>
          <p:nvPr/>
        </p:nvSpPr>
        <p:spPr>
          <a:xfrm>
            <a:off x="5779294" y="1725216"/>
            <a:ext cx="8840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اسفند ۱۴۰۴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6543675" y="17537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1" name="Text 28"/>
          <p:cNvSpPr/>
          <p:nvPr/>
        </p:nvSpPr>
        <p:spPr>
          <a:xfrm>
            <a:off x="7126449" y="1739503"/>
            <a:ext cx="2667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21798" y="1739503"/>
            <a:ext cx="331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82334" y="1729216"/>
            <a:ext cx="409761" cy="192024"/>
          </a:xfrm>
          <a:prstGeom prst="roundRect">
            <a:avLst>
              <a:gd name="adj" fmla="val 29762"/>
            </a:avLst>
          </a:prstGeom>
          <a:solidFill>
            <a:srgbClr val="D4AF37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782334" y="1739503"/>
            <a:ext cx="4097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215980" y="1739503"/>
            <a:ext cx="2969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Year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79269" y="2132409"/>
            <a:ext cx="508145" cy="219456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887520" y="2132409"/>
            <a:ext cx="622379" cy="219456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ی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310006" y="2132409"/>
            <a:ext cx="622379" cy="219456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732492" y="2132409"/>
            <a:ext cx="622379" cy="219456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154978" y="2132409"/>
            <a:ext cx="622379" cy="219456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چ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577464" y="2132409"/>
            <a:ext cx="622379" cy="219456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پ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885827" y="2132409"/>
            <a:ext cx="622379" cy="219456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ج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579269" y="2361009"/>
            <a:ext cx="508145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2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887520" y="23610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2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310006" y="23610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2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۳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732492" y="23610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2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۴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154978" y="23610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2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۵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577464" y="23610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2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۶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885827" y="23610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2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۷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79269" y="2646759"/>
            <a:ext cx="508145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۸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887520" y="26467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۹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310006" y="26467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۱۰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732492" y="26467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۱۱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7154978" y="26467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۱۲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577464" y="26467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۱۳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885827" y="26467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۱۴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579269" y="2932509"/>
            <a:ext cx="508145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۱۵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5887520" y="29325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۱۶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424240" y="2919708"/>
            <a:ext cx="393911" cy="282778"/>
          </a:xfrm>
          <a:prstGeom prst="roundRect">
            <a:avLst>
              <a:gd name="adj" fmla="val 26947"/>
            </a:avLst>
          </a:prstGeom>
          <a:solidFill>
            <a:srgbClr val="D4AF3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6310006" y="29325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۱۷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732492" y="29325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۱۸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154978" y="29325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۱۹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7577464" y="29325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۲۰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7885827" y="293250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۲۱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5579269" y="3218259"/>
            <a:ext cx="508145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۲۲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5887520" y="32182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۲۳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6310006" y="32182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۲۴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6732492" y="32182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۲۵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7154978" y="32182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۲۶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577464" y="32182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۲۷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7885827" y="3218259"/>
            <a:ext cx="622379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۲۸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5579269" y="3504009"/>
            <a:ext cx="508145" cy="282158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۲۹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5579269" y="3875484"/>
            <a:ext cx="2928938" cy="257175"/>
          </a:xfrm>
          <a:prstGeom prst="rect">
            <a:avLst/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5693569" y="3932634"/>
            <a:ext cx="27289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8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تیم استندآپ — ۳:۰۰ عصر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00300"/>
            <a:ext cx="2743200" cy="2743200"/>
          </a:xfrm>
          <a:prstGeom prst="roundRect">
            <a:avLst>
              <a:gd name="adj" fmla="val 3471875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88349" y="4829175"/>
            <a:ext cx="37963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🤖</a:t>
            </a:r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The AI Planner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00100"/>
            <a:ext cx="571500" cy="28575"/>
          </a:xfrm>
          <a:prstGeom prst="roundRect">
            <a:avLst>
              <a:gd name="adj" fmla="val 3333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0772" y="1532334"/>
            <a:ext cx="278606" cy="278606"/>
          </a:xfrm>
          <a:prstGeom prst="roundRect">
            <a:avLst>
              <a:gd name="adj" fmla="val 34184646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7928" y="1571625"/>
            <a:ext cx="1678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860822" y="1532334"/>
            <a:ext cx="3536156" cy="607219"/>
          </a:xfrm>
          <a:prstGeom prst="roundRect">
            <a:avLst>
              <a:gd name="adj" fmla="val 18824"/>
            </a:avLst>
          </a:prstGeom>
          <a:solidFill>
            <a:srgbClr val="24242A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7269" y="1650206"/>
            <a:ext cx="324326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 Your Goal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1007269" y="1878806"/>
            <a:ext cx="3352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 what you want to achieve in the input field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47022" y="1532334"/>
            <a:ext cx="278606" cy="278606"/>
          </a:xfrm>
          <a:prstGeom prst="roundRect">
            <a:avLst>
              <a:gd name="adj" fmla="val 34184646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4178" y="1571625"/>
            <a:ext cx="1678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5147072" y="1532334"/>
            <a:ext cx="3536156" cy="607219"/>
          </a:xfrm>
          <a:prstGeom prst="roundRect">
            <a:avLst>
              <a:gd name="adj" fmla="val 18824"/>
            </a:avLst>
          </a:prstGeom>
          <a:solidFill>
            <a:srgbClr val="24242A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93519" y="1650206"/>
            <a:ext cx="324326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Asks Questions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5293519" y="1878806"/>
            <a:ext cx="32432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88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 clarifying multiple-choice questions to refine scope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460772" y="2289572"/>
            <a:ext cx="278606" cy="278606"/>
          </a:xfrm>
          <a:prstGeom prst="roundRect">
            <a:avLst>
              <a:gd name="adj" fmla="val 34184646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7928" y="2328863"/>
            <a:ext cx="1678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860822" y="2289572"/>
            <a:ext cx="3536156" cy="607219"/>
          </a:xfrm>
          <a:prstGeom prst="roundRect">
            <a:avLst>
              <a:gd name="adj" fmla="val 18824"/>
            </a:avLst>
          </a:prstGeom>
          <a:solidFill>
            <a:srgbClr val="24242A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07269" y="2407444"/>
            <a:ext cx="324326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 Graph Generated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1007269" y="2636044"/>
            <a:ext cx="32432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builds a full plan with branches and dependencies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47022" y="2289572"/>
            <a:ext cx="278606" cy="278606"/>
          </a:xfrm>
          <a:prstGeom prst="roundRect">
            <a:avLst>
              <a:gd name="adj" fmla="val 34184646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4178" y="2328863"/>
            <a:ext cx="1678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5147072" y="2289572"/>
            <a:ext cx="3536156" cy="607219"/>
          </a:xfrm>
          <a:prstGeom prst="roundRect">
            <a:avLst>
              <a:gd name="adj" fmla="val 18824"/>
            </a:avLst>
          </a:prstGeom>
          <a:solidFill>
            <a:srgbClr val="24242A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93519" y="2407444"/>
            <a:ext cx="324326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Exploration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5293519" y="2636044"/>
            <a:ext cx="32432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 steps, see details, get AI-powered insights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0772" y="3046809"/>
            <a:ext cx="278606" cy="278606"/>
          </a:xfrm>
          <a:prstGeom prst="roundRect">
            <a:avLst>
              <a:gd name="adj" fmla="val 34184646"/>
            </a:avLst>
          </a:prstGeom>
          <a:solidFill>
            <a:srgbClr val="F5D060">
              <a:alpha val="20000"/>
            </a:srgbClr>
          </a:solidFill>
          <a:ln w="7144">
            <a:solidFill>
              <a:srgbClr val="F5D06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7928" y="3086100"/>
            <a:ext cx="1678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860822" y="3046809"/>
            <a:ext cx="3536156" cy="607219"/>
          </a:xfrm>
          <a:prstGeom prst="roundRect">
            <a:avLst>
              <a:gd name="adj" fmla="val 18824"/>
            </a:avLst>
          </a:prstGeom>
          <a:solidFill>
            <a:srgbClr val="24242A"/>
          </a:solidFill>
          <a:ln w="7144">
            <a:solidFill>
              <a:srgbClr val="F5D06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07269" y="3164681"/>
            <a:ext cx="324326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 Working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1007269" y="3393281"/>
            <a:ext cx="3352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more branches and extend your plan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47022" y="3046809"/>
            <a:ext cx="278606" cy="278606"/>
          </a:xfrm>
          <a:prstGeom prst="roundRect">
            <a:avLst>
              <a:gd name="adj" fmla="val 34184646"/>
            </a:avLst>
          </a:prstGeom>
          <a:solidFill>
            <a:srgbClr val="F5D060">
              <a:alpha val="20000"/>
            </a:srgbClr>
          </a:solidFill>
          <a:ln w="7144">
            <a:solidFill>
              <a:srgbClr val="F5D06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4178" y="3086100"/>
            <a:ext cx="1678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5147072" y="3046809"/>
            <a:ext cx="3536156" cy="607219"/>
          </a:xfrm>
          <a:prstGeom prst="roundRect">
            <a:avLst>
              <a:gd name="adj" fmla="val 18824"/>
            </a:avLst>
          </a:prstGeom>
          <a:solidFill>
            <a:srgbClr val="24242A"/>
          </a:solidFill>
          <a:ln w="7144">
            <a:solidFill>
              <a:srgbClr val="F5D06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93519" y="3164681"/>
            <a:ext cx="324326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Schedule in Calendar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5293519" y="3393281"/>
            <a:ext cx="33529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creates calendar events from your route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0772" y="3804047"/>
            <a:ext cx="278606" cy="278606"/>
          </a:xfrm>
          <a:prstGeom prst="roundRect">
            <a:avLst>
              <a:gd name="adj" fmla="val 34184646"/>
            </a:avLst>
          </a:prstGeom>
          <a:solidFill>
            <a:srgbClr val="D4AF37">
              <a:alpha val="2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7928" y="3843338"/>
            <a:ext cx="1678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013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3800475"/>
            <a:ext cx="7829550" cy="47148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60822" y="3804047"/>
            <a:ext cx="7822406" cy="464344"/>
          </a:xfrm>
          <a:prstGeom prst="roundRect">
            <a:avLst>
              <a:gd name="adj" fmla="val 24615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1035844" y="3936206"/>
            <a:ext cx="11975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Your Plan</a:t>
            </a:r>
            <a:endParaRPr lang="en-US" sz="1013" dirty="0"/>
          </a:p>
        </p:txBody>
      </p:sp>
      <p:sp>
        <p:nvSpPr>
          <p:cNvPr id="41" name="Text 38"/>
          <p:cNvSpPr/>
          <p:nvPr/>
        </p:nvSpPr>
        <p:spPr>
          <a:xfrm>
            <a:off x="2147965" y="3909117"/>
            <a:ext cx="469063" cy="254203"/>
          </a:xfrm>
          <a:prstGeom prst="roundRect">
            <a:avLst>
              <a:gd name="adj" fmla="val 29976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2165338" y="3921919"/>
            <a:ext cx="434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695029" y="3909117"/>
            <a:ext cx="511015" cy="254203"/>
          </a:xfrm>
          <a:prstGeom prst="roundRect">
            <a:avLst>
              <a:gd name="adj" fmla="val 29976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2713955" y="3921919"/>
            <a:ext cx="4731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281379" y="3909117"/>
            <a:ext cx="541032" cy="254203"/>
          </a:xfrm>
          <a:prstGeom prst="roundRect">
            <a:avLst>
              <a:gd name="adj" fmla="val 29976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3301417" y="3921919"/>
            <a:ext cx="500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1828800" cy="1828800"/>
          </a:xfrm>
          <a:prstGeom prst="roundRect">
            <a:avLst>
              <a:gd name="adj" fmla="val 5207813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43600" y="2800350"/>
            <a:ext cx="2057400" cy="2057400"/>
          </a:xfrm>
          <a:prstGeom prst="roundRect">
            <a:avLst>
              <a:gd name="adj" fmla="val 4629167"/>
            </a:avLst>
          </a:prstGeom>
          <a:solidFill>
            <a:srgbClr val="F5D0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550694" y="1957388"/>
            <a:ext cx="298608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88349" y="4829175"/>
            <a:ext cx="37963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📓</a:t>
            </a:r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The Journal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800100"/>
            <a:ext cx="571500" cy="28575"/>
          </a:xfrm>
          <a:prstGeom prst="roundRect">
            <a:avLst>
              <a:gd name="adj" fmla="val 3333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528763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1848" y="1573411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2109" dirty="0"/>
          </a:p>
        </p:txBody>
      </p:sp>
      <p:sp>
        <p:nvSpPr>
          <p:cNvPr id="10" name="Text 8"/>
          <p:cNvSpPr/>
          <p:nvPr/>
        </p:nvSpPr>
        <p:spPr>
          <a:xfrm>
            <a:off x="1000125" y="1528763"/>
            <a:ext cx="43205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Auto-Saved Routes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000125" y="1757363"/>
            <a:ext cx="41148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AI-generated routes are saved automatically to your journal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28838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1848" y="2173486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2109" dirty="0"/>
          </a:p>
        </p:txBody>
      </p:sp>
      <p:sp>
        <p:nvSpPr>
          <p:cNvPr id="14" name="Text 12"/>
          <p:cNvSpPr/>
          <p:nvPr/>
        </p:nvSpPr>
        <p:spPr>
          <a:xfrm>
            <a:off x="1000125" y="2128838"/>
            <a:ext cx="43205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Browse &amp; Search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00125" y="2357438"/>
            <a:ext cx="444398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Browse, search, and revisit past plans anytime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28913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1848" y="2773561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2109" dirty="0"/>
          </a:p>
        </p:txBody>
      </p:sp>
      <p:sp>
        <p:nvSpPr>
          <p:cNvPr id="18" name="Text 16"/>
          <p:cNvSpPr/>
          <p:nvPr/>
        </p:nvSpPr>
        <p:spPr>
          <a:xfrm>
            <a:off x="1000125" y="2728913"/>
            <a:ext cx="43205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Reload in Planner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00125" y="2957513"/>
            <a:ext cx="41148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 any journal entry to reload the route in the planner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328988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1848" y="3373636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2109" dirty="0"/>
          </a:p>
        </p:txBody>
      </p:sp>
      <p:sp>
        <p:nvSpPr>
          <p:cNvPr id="22" name="Text 20"/>
          <p:cNvSpPr/>
          <p:nvPr/>
        </p:nvSpPr>
        <p:spPr>
          <a:xfrm>
            <a:off x="1000125" y="3328988"/>
            <a:ext cx="5266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Notes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000125" y="3557588"/>
            <a:ext cx="41148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personal notes to any journal entry for context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929063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848" y="3973711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2109" dirty="0"/>
          </a:p>
        </p:txBody>
      </p:sp>
      <p:sp>
        <p:nvSpPr>
          <p:cNvPr id="26" name="Text 24"/>
          <p:cNvSpPr/>
          <p:nvPr/>
        </p:nvSpPr>
        <p:spPr>
          <a:xfrm>
            <a:off x="1000125" y="3929063"/>
            <a:ext cx="52669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Clean Up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00125" y="4157663"/>
            <a:ext cx="41148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Delete entries you no longer need to keep things tidy</a:t>
            </a:r>
            <a:endParaRPr lang="en-US" sz="9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5" y="1489472"/>
            <a:ext cx="3286125" cy="287893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404247" y="1493044"/>
            <a:ext cx="3278981" cy="2871788"/>
          </a:xfrm>
          <a:prstGeom prst="roundRect">
            <a:avLst>
              <a:gd name="adj" fmla="val 5307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550694" y="1653778"/>
            <a:ext cx="19371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📓</a:t>
            </a:r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Journal</a:t>
            </a:r>
            <a:endParaRPr lang="en-US" sz="1013" dirty="0"/>
          </a:p>
        </p:txBody>
      </p:sp>
      <p:sp>
        <p:nvSpPr>
          <p:cNvPr id="31" name="Text 28"/>
          <p:cNvSpPr/>
          <p:nvPr/>
        </p:nvSpPr>
        <p:spPr>
          <a:xfrm>
            <a:off x="7479305" y="1626689"/>
            <a:ext cx="1080336" cy="254203"/>
          </a:xfrm>
          <a:prstGeom prst="roundRect">
            <a:avLst>
              <a:gd name="adj" fmla="val 29976"/>
            </a:avLst>
          </a:prstGeom>
          <a:solidFill>
            <a:srgbClr val="1A1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587890" y="170378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984" dirty="0"/>
          </a:p>
        </p:txBody>
      </p:sp>
      <p:sp>
        <p:nvSpPr>
          <p:cNvPr id="33" name="Text 30"/>
          <p:cNvSpPr/>
          <p:nvPr/>
        </p:nvSpPr>
        <p:spPr>
          <a:xfrm>
            <a:off x="7745053" y="1682353"/>
            <a:ext cx="7060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88" dirty="0">
                <a:solidFill>
                  <a:srgbClr val="F5F0DC">
                    <a:alpha val="3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 routes...</a:t>
            </a:r>
            <a:endParaRPr lang="en-US" sz="788" dirty="0"/>
          </a:p>
        </p:txBody>
      </p:sp>
      <p:sp>
        <p:nvSpPr>
          <p:cNvPr id="34" name="Text 31"/>
          <p:cNvSpPr/>
          <p:nvPr/>
        </p:nvSpPr>
        <p:spPr>
          <a:xfrm>
            <a:off x="5554266" y="2078831"/>
            <a:ext cx="2978944" cy="464344"/>
          </a:xfrm>
          <a:prstGeom prst="roundRect">
            <a:avLst>
              <a:gd name="adj" fmla="val 24615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672138" y="2168128"/>
            <a:ext cx="2245370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Launch Marketing Campaign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906419" y="2182416"/>
            <a:ext cx="53429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 ساعت پیش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672138" y="2339578"/>
            <a:ext cx="28529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steps · 3 branches · Completed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554266" y="2636044"/>
            <a:ext cx="2978944" cy="464344"/>
          </a:xfrm>
          <a:prstGeom prst="roundRect">
            <a:avLst>
              <a:gd name="adj" fmla="val 24615"/>
            </a:avLst>
          </a:prstGeom>
          <a:solidFill>
            <a:srgbClr val="1A1A1E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672138" y="2725341"/>
            <a:ext cx="2536031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MVP Prototype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190095" y="2739628"/>
            <a:ext cx="25760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F5F0DC">
                    <a:alpha val="3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دیروز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5672138" y="2896791"/>
            <a:ext cx="28529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steps · 5 branches · In Progress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54266" y="3193256"/>
            <a:ext cx="2978944" cy="464344"/>
          </a:xfrm>
          <a:prstGeom prst="roundRect">
            <a:avLst>
              <a:gd name="adj" fmla="val 24615"/>
            </a:avLst>
          </a:prstGeom>
          <a:solidFill>
            <a:srgbClr val="1A1A1E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672138" y="3282553"/>
            <a:ext cx="2352526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Onboarding Plan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024499" y="3296841"/>
            <a:ext cx="405291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F5F0DC">
                    <a:alpha val="3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۳ روز پیش</a:t>
            </a:r>
            <a:endParaRPr lang="en-US" sz="675" dirty="0"/>
          </a:p>
        </p:txBody>
      </p:sp>
      <p:sp>
        <p:nvSpPr>
          <p:cNvPr id="45" name="Text 42"/>
          <p:cNvSpPr/>
          <p:nvPr/>
        </p:nvSpPr>
        <p:spPr>
          <a:xfrm>
            <a:off x="5672138" y="3454003"/>
            <a:ext cx="28529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steps · 2 branches · Completed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554266" y="3750469"/>
            <a:ext cx="2978944" cy="464344"/>
          </a:xfrm>
          <a:prstGeom prst="roundRect">
            <a:avLst>
              <a:gd name="adj" fmla="val 24615"/>
            </a:avLst>
          </a:prstGeom>
          <a:solidFill>
            <a:srgbClr val="1A1A1E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672138" y="3839766"/>
            <a:ext cx="2390701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Product Roadmap Q1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057748" y="3854053"/>
            <a:ext cx="37696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F5F0DC">
                    <a:alpha val="3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هفته پیش</a:t>
            </a:r>
            <a:endParaRPr lang="en-US" sz="675" dirty="0"/>
          </a:p>
        </p:txBody>
      </p:sp>
      <p:sp>
        <p:nvSpPr>
          <p:cNvPr id="49" name="Text 46"/>
          <p:cNvSpPr/>
          <p:nvPr/>
        </p:nvSpPr>
        <p:spPr>
          <a:xfrm>
            <a:off x="5672138" y="4011216"/>
            <a:ext cx="28529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5F0DC">
                    <a:alpha val="4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steps · 4 branches · Completed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250" y="285750"/>
            <a:ext cx="2286000" cy="2286000"/>
          </a:xfrm>
          <a:prstGeom prst="roundRect">
            <a:avLst>
              <a:gd name="adj" fmla="val 4166250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14700"/>
            <a:ext cx="1828800" cy="1828800"/>
          </a:xfrm>
          <a:prstGeom prst="roundRect">
            <a:avLst>
              <a:gd name="adj" fmla="val 5207813"/>
            </a:avLst>
          </a:prstGeom>
          <a:solidFill>
            <a:srgbClr val="F5D0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88349" y="4829175"/>
            <a:ext cx="37963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Enterprise Project Management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800100"/>
            <a:ext cx="571500" cy="28575"/>
          </a:xfrm>
          <a:prstGeom prst="roundRect">
            <a:avLst>
              <a:gd name="adj" fmla="val 3333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4425"/>
            <a:ext cx="2628900" cy="17287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0772" y="1117997"/>
            <a:ext cx="2621756" cy="1721644"/>
          </a:xfrm>
          <a:prstGeom prst="roundRect">
            <a:avLst>
              <a:gd name="adj" fmla="val 885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4369" y="132159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11518" y="136874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688" dirty="0"/>
          </a:p>
        </p:txBody>
      </p:sp>
      <p:sp>
        <p:nvSpPr>
          <p:cNvPr id="11" name="Text 8"/>
          <p:cNvSpPr/>
          <p:nvPr/>
        </p:nvSpPr>
        <p:spPr>
          <a:xfrm>
            <a:off x="664369" y="1778794"/>
            <a:ext cx="2214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Graph View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4369" y="2064544"/>
            <a:ext cx="22145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task dependency graph — see how every task connects and impacts others.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1114425"/>
            <a:ext cx="2628900" cy="17287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61122" y="1117997"/>
            <a:ext cx="2621756" cy="1721644"/>
          </a:xfrm>
          <a:prstGeom prst="roundRect">
            <a:avLst>
              <a:gd name="adj" fmla="val 885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464719" y="132159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511868" y="136874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7" name="Text 13"/>
          <p:cNvSpPr/>
          <p:nvPr/>
        </p:nvSpPr>
        <p:spPr>
          <a:xfrm>
            <a:off x="3464719" y="1778794"/>
            <a:ext cx="2214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Gantt Chart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464719" y="2064544"/>
            <a:ext cx="22145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Timeline-based scheduling — visualize task durations and overlaps at a glance.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1114425"/>
            <a:ext cx="2628900" cy="17287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61472" y="1117997"/>
            <a:ext cx="2621756" cy="1721644"/>
          </a:xfrm>
          <a:prstGeom prst="roundRect">
            <a:avLst>
              <a:gd name="adj" fmla="val 885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265069" y="132159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312218" y="136874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688" dirty="0"/>
          </a:p>
        </p:txBody>
      </p:sp>
      <p:sp>
        <p:nvSpPr>
          <p:cNvPr id="23" name="Text 18"/>
          <p:cNvSpPr/>
          <p:nvPr/>
        </p:nvSpPr>
        <p:spPr>
          <a:xfrm>
            <a:off x="6265069" y="1778794"/>
            <a:ext cx="2214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Kanban Board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265069" y="2064544"/>
            <a:ext cx="22145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columns from Draft to Done — drag and drop tasks between stages.</a:t>
            </a:r>
            <a:endParaRPr lang="en-US" sz="9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14663"/>
            <a:ext cx="2628900" cy="17287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0772" y="3018234"/>
            <a:ext cx="2621756" cy="1721644"/>
          </a:xfrm>
          <a:prstGeom prst="roundRect">
            <a:avLst>
              <a:gd name="adj" fmla="val 885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64369" y="322183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0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711518" y="32689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9" name="Text 23"/>
          <p:cNvSpPr/>
          <p:nvPr/>
        </p:nvSpPr>
        <p:spPr>
          <a:xfrm>
            <a:off x="664369" y="3679031"/>
            <a:ext cx="2214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CPM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64369" y="3964781"/>
            <a:ext cx="22145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 Path Method analysis — identify the longest sequence of dependent tasks.</a:t>
            </a: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550" y="3014663"/>
            <a:ext cx="2628900" cy="17287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61122" y="3018234"/>
            <a:ext cx="2621756" cy="1721644"/>
          </a:xfrm>
          <a:prstGeom prst="roundRect">
            <a:avLst>
              <a:gd name="adj" fmla="val 885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464719" y="322183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0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3511868" y="32689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5" name="Text 28"/>
          <p:cNvSpPr/>
          <p:nvPr/>
        </p:nvSpPr>
        <p:spPr>
          <a:xfrm>
            <a:off x="3464719" y="3679031"/>
            <a:ext cx="2214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PERT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3464719" y="3964781"/>
            <a:ext cx="22145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Three-point estimation — optimistic, most likely, and pessimistic task durations.</a:t>
            </a:r>
            <a:endParaRPr lang="en-US" sz="9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3014663"/>
            <a:ext cx="2628900" cy="17287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061472" y="3018234"/>
            <a:ext cx="2621756" cy="1721644"/>
          </a:xfrm>
          <a:prstGeom prst="roundRect">
            <a:avLst>
              <a:gd name="adj" fmla="val 885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265069" y="322183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0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6312218" y="32689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1" name="Text 33"/>
          <p:cNvSpPr/>
          <p:nvPr/>
        </p:nvSpPr>
        <p:spPr>
          <a:xfrm>
            <a:off x="6265069" y="3679031"/>
            <a:ext cx="2214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Monte Carlo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6265069" y="3964781"/>
            <a:ext cx="22145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simulation with 5,000 iterations — probability-based project forecasting.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8100" y="914400"/>
            <a:ext cx="2057400" cy="2057400"/>
          </a:xfrm>
          <a:prstGeom prst="roundRect">
            <a:avLst>
              <a:gd name="adj" fmla="val 4629167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285750" y="3600450"/>
            <a:ext cx="1600200" cy="1600200"/>
          </a:xfrm>
          <a:prstGeom prst="roundRect">
            <a:avLst>
              <a:gd name="adj" fmla="val 5951786"/>
            </a:avLst>
          </a:prstGeom>
          <a:solidFill>
            <a:srgbClr val="F5D0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88349" y="5172075"/>
            <a:ext cx="37963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⌨️ Shortcuts &amp; Export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001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⌨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714375" y="1085850"/>
            <a:ext cx="371475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Keyboard Shortcuts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60772" y="1432322"/>
            <a:ext cx="3964781" cy="3879056"/>
          </a:xfrm>
          <a:prstGeom prst="roundRect">
            <a:avLst>
              <a:gd name="adj" fmla="val 3929"/>
            </a:avLst>
          </a:prstGeom>
          <a:solidFill>
            <a:srgbClr val="24242A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94" y="1607344"/>
            <a:ext cx="217438" cy="19288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5794" y="1595771"/>
            <a:ext cx="217438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5794" y="1607344"/>
            <a:ext cx="217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38957" y="1618059"/>
            <a:ext cx="13899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event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3" y="1607344"/>
            <a:ext cx="217438" cy="1928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57463" y="1595771"/>
            <a:ext cx="217438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557463" y="1607344"/>
            <a:ext cx="217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860625" y="1618059"/>
            <a:ext cx="13899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event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4" y="1914525"/>
            <a:ext cx="217438" cy="19288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794" y="1902952"/>
            <a:ext cx="217438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35794" y="1914525"/>
            <a:ext cx="217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938957" y="1925241"/>
            <a:ext cx="13899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Jump to Today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463" y="1914525"/>
            <a:ext cx="217438" cy="192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557463" y="1902952"/>
            <a:ext cx="217438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2557463" y="1914525"/>
            <a:ext cx="217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2860625" y="1925241"/>
            <a:ext cx="13899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 view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94" y="2221706"/>
            <a:ext cx="217438" cy="19288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5794" y="2210133"/>
            <a:ext cx="217438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635794" y="2221706"/>
            <a:ext cx="217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938957" y="2232422"/>
            <a:ext cx="13899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view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7463" y="2221706"/>
            <a:ext cx="217438" cy="19288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557463" y="2210133"/>
            <a:ext cx="217438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2557463" y="2221706"/>
            <a:ext cx="217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2860625" y="2232422"/>
            <a:ext cx="13899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 view</a:t>
            </a:r>
            <a:endParaRPr lang="en-US" sz="9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94" y="2528888"/>
            <a:ext cx="217438" cy="19288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35794" y="2517315"/>
            <a:ext cx="217438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635794" y="2528888"/>
            <a:ext cx="217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938957" y="2539603"/>
            <a:ext cx="13899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Year view</a:t>
            </a:r>
            <a:endParaRPr lang="en-US" sz="9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7463" y="2528888"/>
            <a:ext cx="518480" cy="192881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2557463" y="2517315"/>
            <a:ext cx="518480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9"/>
          <p:cNvSpPr/>
          <p:nvPr/>
        </p:nvSpPr>
        <p:spPr>
          <a:xfrm>
            <a:off x="2557463" y="2528888"/>
            <a:ext cx="51848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Ctrl+Z</a:t>
            </a:r>
            <a:endParaRPr lang="en-US" sz="800" dirty="0"/>
          </a:p>
        </p:txBody>
      </p:sp>
      <p:sp>
        <p:nvSpPr>
          <p:cNvPr id="40" name="Text 30"/>
          <p:cNvSpPr/>
          <p:nvPr/>
        </p:nvSpPr>
        <p:spPr>
          <a:xfrm>
            <a:off x="3161667" y="2539603"/>
            <a:ext cx="108886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Undo</a:t>
            </a:r>
            <a:endParaRPr lang="en-US" sz="9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794" y="2836069"/>
            <a:ext cx="518480" cy="192881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35794" y="2824496"/>
            <a:ext cx="518480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2"/>
          <p:cNvSpPr/>
          <p:nvPr/>
        </p:nvSpPr>
        <p:spPr>
          <a:xfrm>
            <a:off x="635794" y="2836069"/>
            <a:ext cx="51848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Ctrl+Y</a:t>
            </a:r>
            <a:endParaRPr lang="en-US" sz="800" dirty="0"/>
          </a:p>
        </p:txBody>
      </p:sp>
      <p:sp>
        <p:nvSpPr>
          <p:cNvPr id="44" name="Text 33"/>
          <p:cNvSpPr/>
          <p:nvPr/>
        </p:nvSpPr>
        <p:spPr>
          <a:xfrm>
            <a:off x="1239999" y="2846784"/>
            <a:ext cx="108886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Redo</a:t>
            </a:r>
            <a:endParaRPr lang="en-US" sz="9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7463" y="2836069"/>
            <a:ext cx="518480" cy="192881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2557463" y="2824496"/>
            <a:ext cx="518480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5"/>
          <p:cNvSpPr/>
          <p:nvPr/>
        </p:nvSpPr>
        <p:spPr>
          <a:xfrm>
            <a:off x="2557463" y="2836069"/>
            <a:ext cx="51848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Ctrl+K</a:t>
            </a:r>
            <a:endParaRPr lang="en-US" sz="800" dirty="0"/>
          </a:p>
        </p:txBody>
      </p:sp>
      <p:sp>
        <p:nvSpPr>
          <p:cNvPr id="48" name="Text 36"/>
          <p:cNvSpPr/>
          <p:nvPr/>
        </p:nvSpPr>
        <p:spPr>
          <a:xfrm>
            <a:off x="3161667" y="2846784"/>
            <a:ext cx="108886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Command palette</a:t>
            </a:r>
            <a:endParaRPr lang="en-US" sz="9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94" y="3143250"/>
            <a:ext cx="337877" cy="192881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35794" y="3131677"/>
            <a:ext cx="337877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38"/>
          <p:cNvSpPr/>
          <p:nvPr/>
        </p:nvSpPr>
        <p:spPr>
          <a:xfrm>
            <a:off x="635794" y="3143250"/>
            <a:ext cx="33787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F11</a:t>
            </a:r>
            <a:endParaRPr lang="en-US" sz="800" dirty="0"/>
          </a:p>
        </p:txBody>
      </p:sp>
      <p:sp>
        <p:nvSpPr>
          <p:cNvPr id="52" name="Text 39"/>
          <p:cNvSpPr/>
          <p:nvPr/>
        </p:nvSpPr>
        <p:spPr>
          <a:xfrm>
            <a:off x="1059396" y="3153966"/>
            <a:ext cx="126946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Fullscreen</a:t>
            </a:r>
            <a:endParaRPr lang="en-US" sz="9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7463" y="3143250"/>
            <a:ext cx="277602" cy="192881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2557463" y="3131677"/>
            <a:ext cx="277602" cy="216027"/>
          </a:xfrm>
          <a:prstGeom prst="roundRect">
            <a:avLst>
              <a:gd name="adj" fmla="val 26455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1"/>
          <p:cNvSpPr/>
          <p:nvPr/>
        </p:nvSpPr>
        <p:spPr>
          <a:xfrm>
            <a:off x="2557463" y="3143250"/>
            <a:ext cx="2776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F1</a:t>
            </a:r>
            <a:endParaRPr lang="en-US" sz="800" dirty="0"/>
          </a:p>
        </p:txBody>
      </p:sp>
      <p:sp>
        <p:nvSpPr>
          <p:cNvPr id="56" name="Text 42"/>
          <p:cNvSpPr/>
          <p:nvPr/>
        </p:nvSpPr>
        <p:spPr>
          <a:xfrm>
            <a:off x="2920789" y="3153966"/>
            <a:ext cx="132974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tour</a:t>
            </a:r>
            <a:endParaRPr lang="en-US" sz="900" dirty="0"/>
          </a:p>
        </p:txBody>
      </p:sp>
      <p:sp>
        <p:nvSpPr>
          <p:cNvPr id="57" name="Text 43"/>
          <p:cNvSpPr/>
          <p:nvPr/>
        </p:nvSpPr>
        <p:spPr>
          <a:xfrm>
            <a:off x="4714875" y="11001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88" dirty="0"/>
          </a:p>
        </p:txBody>
      </p:sp>
      <p:sp>
        <p:nvSpPr>
          <p:cNvPr id="58" name="Text 44"/>
          <p:cNvSpPr/>
          <p:nvPr/>
        </p:nvSpPr>
        <p:spPr>
          <a:xfrm>
            <a:off x="4972050" y="1085850"/>
            <a:ext cx="371475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Formats</a:t>
            </a:r>
            <a:endParaRPr lang="en-US" sz="1125" dirty="0"/>
          </a:p>
        </p:txBody>
      </p:sp>
      <p:sp>
        <p:nvSpPr>
          <p:cNvPr id="59" name="Text 45"/>
          <p:cNvSpPr/>
          <p:nvPr/>
        </p:nvSpPr>
        <p:spPr>
          <a:xfrm>
            <a:off x="4718447" y="1432322"/>
            <a:ext cx="3964781" cy="3879056"/>
          </a:xfrm>
          <a:prstGeom prst="roundRect">
            <a:avLst>
              <a:gd name="adj" fmla="val 3929"/>
            </a:avLst>
          </a:prstGeom>
          <a:solidFill>
            <a:srgbClr val="24242A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6"/>
          <p:cNvSpPr/>
          <p:nvPr/>
        </p:nvSpPr>
        <p:spPr>
          <a:xfrm>
            <a:off x="4897041" y="1610916"/>
            <a:ext cx="3607594" cy="607219"/>
          </a:xfrm>
          <a:prstGeom prst="roundRect">
            <a:avLst>
              <a:gd name="adj" fmla="val 18824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47"/>
          <p:cNvSpPr/>
          <p:nvPr/>
        </p:nvSpPr>
        <p:spPr>
          <a:xfrm>
            <a:off x="5014913" y="17430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62" name="Text 48"/>
          <p:cNvSpPr/>
          <p:nvPr/>
        </p:nvSpPr>
        <p:spPr>
          <a:xfrm>
            <a:off x="5300663" y="1728788"/>
            <a:ext cx="30861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endParaRPr lang="en-US" sz="1013" dirty="0"/>
          </a:p>
        </p:txBody>
      </p:sp>
      <p:sp>
        <p:nvSpPr>
          <p:cNvPr id="63" name="Text 49"/>
          <p:cNvSpPr/>
          <p:nvPr/>
        </p:nvSpPr>
        <p:spPr>
          <a:xfrm>
            <a:off x="5300663" y="1957388"/>
            <a:ext cx="2351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88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Tasks and dependencies in comma-separated format</a:t>
            </a:r>
            <a:endParaRPr lang="en-US" sz="788" dirty="0"/>
          </a:p>
        </p:txBody>
      </p:sp>
      <p:sp>
        <p:nvSpPr>
          <p:cNvPr id="64" name="Text 50"/>
          <p:cNvSpPr/>
          <p:nvPr/>
        </p:nvSpPr>
        <p:spPr>
          <a:xfrm>
            <a:off x="4897041" y="2339578"/>
            <a:ext cx="3607594" cy="607219"/>
          </a:xfrm>
          <a:prstGeom prst="roundRect">
            <a:avLst>
              <a:gd name="adj" fmla="val 18824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1"/>
          <p:cNvSpPr/>
          <p:nvPr/>
        </p:nvSpPr>
        <p:spPr>
          <a:xfrm>
            <a:off x="5014913" y="24717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66" name="Text 52"/>
          <p:cNvSpPr/>
          <p:nvPr/>
        </p:nvSpPr>
        <p:spPr>
          <a:xfrm>
            <a:off x="5300663" y="2457450"/>
            <a:ext cx="24171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 (.xlsx)</a:t>
            </a:r>
            <a:endParaRPr lang="en-US" sz="1013" dirty="0"/>
          </a:p>
        </p:txBody>
      </p:sp>
      <p:sp>
        <p:nvSpPr>
          <p:cNvPr id="67" name="Text 53"/>
          <p:cNvSpPr/>
          <p:nvPr/>
        </p:nvSpPr>
        <p:spPr>
          <a:xfrm>
            <a:off x="5300663" y="2686050"/>
            <a:ext cx="22274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88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Styled sheets with formatting and multiple tabs</a:t>
            </a:r>
            <a:endParaRPr lang="en-US" sz="788" dirty="0"/>
          </a:p>
        </p:txBody>
      </p:sp>
      <p:sp>
        <p:nvSpPr>
          <p:cNvPr id="68" name="Text 54"/>
          <p:cNvSpPr/>
          <p:nvPr/>
        </p:nvSpPr>
        <p:spPr>
          <a:xfrm>
            <a:off x="4897041" y="3068241"/>
            <a:ext cx="3607594" cy="607219"/>
          </a:xfrm>
          <a:prstGeom prst="roundRect">
            <a:avLst>
              <a:gd name="adj" fmla="val 18824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5"/>
          <p:cNvSpPr/>
          <p:nvPr/>
        </p:nvSpPr>
        <p:spPr>
          <a:xfrm>
            <a:off x="5014913" y="32004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70" name="Text 56"/>
          <p:cNvSpPr/>
          <p:nvPr/>
        </p:nvSpPr>
        <p:spPr>
          <a:xfrm>
            <a:off x="5300663" y="3186113"/>
            <a:ext cx="30861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</a:t>
            </a:r>
            <a:endParaRPr lang="en-US" sz="1013" dirty="0"/>
          </a:p>
        </p:txBody>
      </p:sp>
      <p:sp>
        <p:nvSpPr>
          <p:cNvPr id="71" name="Text 57"/>
          <p:cNvSpPr/>
          <p:nvPr/>
        </p:nvSpPr>
        <p:spPr>
          <a:xfrm>
            <a:off x="5300663" y="3414713"/>
            <a:ext cx="2569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88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Self-contained dark RTL page — open in any browser</a:t>
            </a:r>
            <a:endParaRPr lang="en-US" sz="788" dirty="0"/>
          </a:p>
        </p:txBody>
      </p:sp>
      <p:sp>
        <p:nvSpPr>
          <p:cNvPr id="72" name="Text 58"/>
          <p:cNvSpPr/>
          <p:nvPr/>
        </p:nvSpPr>
        <p:spPr>
          <a:xfrm>
            <a:off x="4897041" y="3796903"/>
            <a:ext cx="3607594" cy="607219"/>
          </a:xfrm>
          <a:prstGeom prst="roundRect">
            <a:avLst>
              <a:gd name="adj" fmla="val 18824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59"/>
          <p:cNvSpPr/>
          <p:nvPr/>
        </p:nvSpPr>
        <p:spPr>
          <a:xfrm>
            <a:off x="5014913" y="39290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74" name="Text 60"/>
          <p:cNvSpPr/>
          <p:nvPr/>
        </p:nvSpPr>
        <p:spPr>
          <a:xfrm>
            <a:off x="5300663" y="3914775"/>
            <a:ext cx="305238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Mermaid</a:t>
            </a:r>
            <a:endParaRPr lang="en-US" sz="1013" dirty="0"/>
          </a:p>
        </p:txBody>
      </p:sp>
      <p:sp>
        <p:nvSpPr>
          <p:cNvPr id="75" name="Text 61"/>
          <p:cNvSpPr/>
          <p:nvPr/>
        </p:nvSpPr>
        <p:spPr>
          <a:xfrm>
            <a:off x="5300663" y="4143375"/>
            <a:ext cx="2384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88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Flowchart with critical path — great for documentation</a:t>
            </a:r>
            <a:endParaRPr lang="en-US" sz="788" dirty="0"/>
          </a:p>
        </p:txBody>
      </p:sp>
      <p:sp>
        <p:nvSpPr>
          <p:cNvPr id="76" name="Text 62"/>
          <p:cNvSpPr/>
          <p:nvPr/>
        </p:nvSpPr>
        <p:spPr>
          <a:xfrm>
            <a:off x="4897041" y="4525566"/>
            <a:ext cx="3607594" cy="607219"/>
          </a:xfrm>
          <a:prstGeom prst="roundRect">
            <a:avLst>
              <a:gd name="adj" fmla="val 18824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63"/>
          <p:cNvSpPr/>
          <p:nvPr/>
        </p:nvSpPr>
        <p:spPr>
          <a:xfrm>
            <a:off x="5014913" y="46577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78" name="Text 64"/>
          <p:cNvSpPr/>
          <p:nvPr/>
        </p:nvSpPr>
        <p:spPr>
          <a:xfrm>
            <a:off x="5300663" y="4643438"/>
            <a:ext cx="30861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JSON</a:t>
            </a:r>
            <a:endParaRPr lang="en-US" sz="1013" dirty="0"/>
          </a:p>
        </p:txBody>
      </p:sp>
      <p:sp>
        <p:nvSpPr>
          <p:cNvPr id="79" name="Text 65"/>
          <p:cNvSpPr/>
          <p:nvPr/>
        </p:nvSpPr>
        <p:spPr>
          <a:xfrm>
            <a:off x="5300663" y="4872038"/>
            <a:ext cx="2290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88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project data — perfect for integrations and APIs</a:t>
            </a:r>
            <a:endParaRPr lang="en-US" sz="7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0" cy="2743200"/>
          </a:xfrm>
          <a:prstGeom prst="roundRect">
            <a:avLst>
              <a:gd name="adj" fmla="val 3471875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86600" y="2514600"/>
            <a:ext cx="2057400" cy="2057400"/>
          </a:xfrm>
          <a:prstGeom prst="roundRect">
            <a:avLst>
              <a:gd name="adj" fmla="val 4629167"/>
            </a:avLst>
          </a:prstGeom>
          <a:solidFill>
            <a:srgbClr val="F5D0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88349" y="4829175"/>
            <a:ext cx="37963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✦ AI Scheduling — How It Works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800100"/>
            <a:ext cx="571500" cy="28575"/>
          </a:xfrm>
          <a:prstGeom prst="roundRect">
            <a:avLst>
              <a:gd name="adj" fmla="val 3333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7300"/>
            <a:ext cx="2447851" cy="9572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0772" y="1260872"/>
            <a:ext cx="2440707" cy="950119"/>
          </a:xfrm>
          <a:prstGeom prst="roundRect">
            <a:avLst>
              <a:gd name="adj" fmla="val 16040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7219" y="1407319"/>
            <a:ext cx="285750" cy="285750"/>
          </a:xfrm>
          <a:prstGeom prst="roundRect">
            <a:avLst>
              <a:gd name="adj" fmla="val 33330000"/>
            </a:avLst>
          </a:prstGeom>
          <a:solidFill>
            <a:srgbClr val="D4AF37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17947" y="1450181"/>
            <a:ext cx="175022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978694" y="1450181"/>
            <a:ext cx="177633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 "✦ AI Schedule"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607219" y="1778794"/>
            <a:ext cx="2147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Press the AI Schedule button in the calendar view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019351" y="162877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963" y="1328738"/>
            <a:ext cx="2447962" cy="8143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1535" y="1332309"/>
            <a:ext cx="2440818" cy="807244"/>
          </a:xfrm>
          <a:prstGeom prst="roundRect">
            <a:avLst>
              <a:gd name="adj" fmla="val 1887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497982" y="1478756"/>
            <a:ext cx="285750" cy="285750"/>
          </a:xfrm>
          <a:prstGeom prst="roundRect">
            <a:avLst>
              <a:gd name="adj" fmla="val 33330000"/>
            </a:avLst>
          </a:prstGeom>
          <a:solidFill>
            <a:srgbClr val="D4AF37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608710" y="1521619"/>
            <a:ext cx="175022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3869457" y="1521619"/>
            <a:ext cx="177645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Describe Your Need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3497982" y="1850231"/>
            <a:ext cx="22576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Tell the AI what you want scheduled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910225" y="162877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38" y="1328738"/>
            <a:ext cx="2447962" cy="8143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42410" y="1332309"/>
            <a:ext cx="2440818" cy="807244"/>
          </a:xfrm>
          <a:prstGeom prst="roundRect">
            <a:avLst>
              <a:gd name="adj" fmla="val 1887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388857" y="1478756"/>
            <a:ext cx="285750" cy="285750"/>
          </a:xfrm>
          <a:prstGeom prst="roundRect">
            <a:avLst>
              <a:gd name="adj" fmla="val 33330000"/>
            </a:avLst>
          </a:prstGeom>
          <a:solidFill>
            <a:srgbClr val="D4AF37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499585" y="1521619"/>
            <a:ext cx="175022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13" dirty="0"/>
          </a:p>
        </p:txBody>
      </p:sp>
      <p:sp>
        <p:nvSpPr>
          <p:cNvPr id="25" name="Text 20"/>
          <p:cNvSpPr/>
          <p:nvPr/>
        </p:nvSpPr>
        <p:spPr>
          <a:xfrm>
            <a:off x="6760332" y="1521619"/>
            <a:ext cx="177645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Asks Follow-ups</a:t>
            </a:r>
            <a:endParaRPr lang="en-US" sz="1013" dirty="0"/>
          </a:p>
        </p:txBody>
      </p:sp>
      <p:sp>
        <p:nvSpPr>
          <p:cNvPr id="26" name="Text 21"/>
          <p:cNvSpPr/>
          <p:nvPr/>
        </p:nvSpPr>
        <p:spPr>
          <a:xfrm>
            <a:off x="6388857" y="1850231"/>
            <a:ext cx="22576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Multi-turn chat to understand your needs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293157" y="238601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2109" dirty="0"/>
          </a:p>
        </p:txBody>
      </p:sp>
      <p:sp>
        <p:nvSpPr>
          <p:cNvPr id="28" name="Text 23"/>
          <p:cNvSpPr/>
          <p:nvPr/>
        </p:nvSpPr>
        <p:spPr>
          <a:xfrm>
            <a:off x="6493446" y="238601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2109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28925"/>
            <a:ext cx="2657475" cy="8143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0772" y="2832497"/>
            <a:ext cx="2650331" cy="807244"/>
          </a:xfrm>
          <a:prstGeom prst="roundRect">
            <a:avLst>
              <a:gd name="adj" fmla="val 18879"/>
            </a:avLst>
          </a:prstGeom>
          <a:noFill/>
          <a:ln w="7144">
            <a:solidFill>
              <a:srgbClr val="F5D06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607219" y="2978944"/>
            <a:ext cx="285750" cy="285750"/>
          </a:xfrm>
          <a:prstGeom prst="roundRect">
            <a:avLst>
              <a:gd name="adj" fmla="val 33330000"/>
            </a:avLst>
          </a:prstGeom>
          <a:solidFill>
            <a:srgbClr val="F5D06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17947" y="3021806"/>
            <a:ext cx="175022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013" dirty="0"/>
          </a:p>
        </p:txBody>
      </p:sp>
      <p:sp>
        <p:nvSpPr>
          <p:cNvPr id="33" name="Text 27"/>
          <p:cNvSpPr/>
          <p:nvPr/>
        </p:nvSpPr>
        <p:spPr>
          <a:xfrm>
            <a:off x="978694" y="3021806"/>
            <a:ext cx="198596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Events Created</a:t>
            </a:r>
            <a:endParaRPr lang="en-US" sz="1013" dirty="0"/>
          </a:p>
        </p:txBody>
      </p:sp>
      <p:sp>
        <p:nvSpPr>
          <p:cNvPr id="34" name="Text 28"/>
          <p:cNvSpPr/>
          <p:nvPr/>
        </p:nvSpPr>
        <p:spPr>
          <a:xfrm>
            <a:off x="607219" y="3350419"/>
            <a:ext cx="2467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creates events directly in your calendar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3228975" y="312896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588" y="2828925"/>
            <a:ext cx="2657475" cy="8143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561159" y="2832497"/>
            <a:ext cx="2650331" cy="807244"/>
          </a:xfrm>
          <a:prstGeom prst="roundRect">
            <a:avLst>
              <a:gd name="adj" fmla="val 18879"/>
            </a:avLst>
          </a:prstGeom>
          <a:noFill/>
          <a:ln w="7144">
            <a:solidFill>
              <a:srgbClr val="F5D06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3707606" y="2978944"/>
            <a:ext cx="285750" cy="285750"/>
          </a:xfrm>
          <a:prstGeom prst="roundRect">
            <a:avLst>
              <a:gd name="adj" fmla="val 33330000"/>
            </a:avLst>
          </a:prstGeom>
          <a:solidFill>
            <a:srgbClr val="F5D06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3818334" y="3021806"/>
            <a:ext cx="175022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013" dirty="0"/>
          </a:p>
        </p:txBody>
      </p:sp>
      <p:sp>
        <p:nvSpPr>
          <p:cNvPr id="40" name="Text 33"/>
          <p:cNvSpPr/>
          <p:nvPr/>
        </p:nvSpPr>
        <p:spPr>
          <a:xfrm>
            <a:off x="4079081" y="3021806"/>
            <a:ext cx="198596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13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&amp; Adjust</a:t>
            </a:r>
            <a:endParaRPr lang="en-US" sz="1013" dirty="0"/>
          </a:p>
        </p:txBody>
      </p:sp>
      <p:sp>
        <p:nvSpPr>
          <p:cNvPr id="41" name="Text 34"/>
          <p:cNvSpPr/>
          <p:nvPr/>
        </p:nvSpPr>
        <p:spPr>
          <a:xfrm>
            <a:off x="3707606" y="3350419"/>
            <a:ext cx="2467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Tweak the schedule to fit your preferences</a:t>
            </a:r>
            <a:endParaRPr lang="en-US" sz="8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871913"/>
            <a:ext cx="6400800" cy="671513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375172" y="3875484"/>
            <a:ext cx="6393656" cy="664369"/>
          </a:xfrm>
          <a:prstGeom prst="roundRect">
            <a:avLst>
              <a:gd name="adj" fmla="val 2293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1664494" y="40362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5D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109" dirty="0"/>
          </a:p>
        </p:txBody>
      </p:sp>
      <p:sp>
        <p:nvSpPr>
          <p:cNvPr id="45" name="Text 37"/>
          <p:cNvSpPr/>
          <p:nvPr/>
        </p:nvSpPr>
        <p:spPr>
          <a:xfrm>
            <a:off x="1993106" y="4021931"/>
            <a:ext cx="5486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</a:t>
            </a:r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D060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 deterministic algorithm</a:t>
            </a:r>
            <a:pPr algn="l" indent="0" marL="0">
              <a:lnSpc>
                <a:spcPts val="1463"/>
              </a:lnSpc>
              <a:buNone/>
            </a:pPr>
            <a:r>
              <a:rPr lang="en-US" sz="900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AI thinks about your schedule and asks questions like a real assistant would.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75" y="428625"/>
            <a:ext cx="4286250" cy="4286250"/>
          </a:xfrm>
          <a:prstGeom prst="roundRect">
            <a:avLst>
              <a:gd name="adj" fmla="val 2222000"/>
            </a:avLst>
          </a:prstGeom>
          <a:solidFill>
            <a:srgbClr val="D4AF37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0638"/>
            <a:ext cx="9144000" cy="428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33360" y="4829175"/>
            <a:ext cx="453969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0DC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10</a:t>
            </a:r>
            <a:endParaRPr lang="en-US" sz="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913" y="907256"/>
            <a:ext cx="571500" cy="71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29138" y="867966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588" y="907256"/>
            <a:ext cx="571500" cy="71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74320" y="1239441"/>
            <a:ext cx="8595248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3375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You're Ready to RASK!</a:t>
            </a:r>
            <a:endParaRPr lang="en-US" sz="3375" dirty="0"/>
          </a:p>
        </p:txBody>
      </p:sp>
      <p:sp>
        <p:nvSpPr>
          <p:cNvPr id="10" name="Text 4"/>
          <p:cNvSpPr/>
          <p:nvPr/>
        </p:nvSpPr>
        <p:spPr>
          <a:xfrm>
            <a:off x="2753581" y="1896666"/>
            <a:ext cx="36368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spc="34" kern="0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planning. Start building. Start achieving.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3210580" y="2296716"/>
            <a:ext cx="27228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688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راسک — الگوریتم زندگی شما</a:t>
            </a:r>
            <a:endParaRPr lang="en-US" sz="1688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896791"/>
            <a:ext cx="914400" cy="71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056440" y="3189684"/>
            <a:ext cx="303100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with </a:t>
            </a:r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87171">
                    <a:alpha val="6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❤️</a:t>
            </a:r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by Littlehomadestudio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3098537" y="3446859"/>
            <a:ext cx="294681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Powered by ZhipuAI GLM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3168700" y="37183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6" name="Text 9"/>
          <p:cNvSpPr/>
          <p:nvPr/>
        </p:nvSpPr>
        <p:spPr>
          <a:xfrm>
            <a:off x="3264466" y="3704034"/>
            <a:ext cx="281498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AF37">
                    <a:alpha val="70000"/>
                  </a:srgbClr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github.com/Littlehomadestudio/Kharazmi</a:t>
            </a:r>
            <a:endParaRPr lang="en-US" sz="9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0" y="4243388"/>
            <a:ext cx="457200" cy="71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543425" y="4218384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F5D060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4243388"/>
            <a:ext cx="457200" cy="7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2026-07-21T20:37:16Z</dcterms:created>
  <dcterms:modified xsi:type="dcterms:W3CDTF">2026-07-21T20:37:16Z</dcterms:modified>
</cp:coreProperties>
</file>